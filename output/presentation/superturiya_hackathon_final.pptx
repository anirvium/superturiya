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a06e640d2246ae" /><Relationship Type="http://schemas.openxmlformats.org/officeDocument/2006/relationships/extended-properties" Target="/docProps/app.xml" Id="Rc755e5cfaaaa478f" /><Relationship Type="http://schemas.openxmlformats.org/officeDocument/2006/relationships/officeDocument" Target="/ppt/presentation.xml" Id="R5c621eb1ba954e11" /></Relationships>
</file>

<file path=ppt/presentation.xml><?xml version="1.0" encoding="utf-8"?>
<p:presentation xmlns:p="http://schemas.openxmlformats.org/presentationml/2006/main">
  <p:sldMasterIdLst>
    <p:sldMasterId xmlns:r="http://schemas.openxmlformats.org/officeDocument/2006/relationships" id="2147483648" r:id="R3a0062d65b584bc8"/>
  </p:sldMasterIdLst>
  <p:notesMasterIdLst>
    <p:notesMasterId xmlns:r="http://schemas.openxmlformats.org/officeDocument/2006/relationships" r:id="R09c18b84de2240ae"/>
  </p:notesMasterIdLst>
  <p:sldIdLst>
    <p:sldId xmlns:r="http://schemas.openxmlformats.org/officeDocument/2006/relationships" id="256" r:id="R23b556212b1249ff"/>
    <p:sldId xmlns:r="http://schemas.openxmlformats.org/officeDocument/2006/relationships" id="257" r:id="Rd7509ceea1c04a6f"/>
    <p:sldId xmlns:r="http://schemas.openxmlformats.org/officeDocument/2006/relationships" id="258" r:id="R73c72626f6e64fa9"/>
    <p:sldId xmlns:r="http://schemas.openxmlformats.org/officeDocument/2006/relationships" id="259" r:id="R1a769bf58dc14d59"/>
    <p:sldId xmlns:r="http://schemas.openxmlformats.org/officeDocument/2006/relationships" id="260" r:id="Re0132a9bd916487c"/>
    <p:sldId xmlns:r="http://schemas.openxmlformats.org/officeDocument/2006/relationships" id="261" r:id="R11fa5901e907450d"/>
    <p:sldId xmlns:r="http://schemas.openxmlformats.org/officeDocument/2006/relationships" id="262" r:id="R60ef69c93a094913"/>
    <p:sldId xmlns:r="http://schemas.openxmlformats.org/officeDocument/2006/relationships" id="263" r:id="R408954e0705b4607"/>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ed5645c6ac42d2" /><Relationship Type="http://schemas.openxmlformats.org/officeDocument/2006/relationships/slideMaster" Target="/ppt/slideMasters/slideMaster1.xml" Id="R3a0062d65b584bc8" /><Relationship Type="http://schemas.openxmlformats.org/officeDocument/2006/relationships/notesMaster" Target="/ppt/notesMasters/notesMaster1.xml" Id="R09c18b84de2240ae" /><Relationship Type="http://schemas.openxmlformats.org/officeDocument/2006/relationships/presProps" Target="/ppt/presProps.xml" Id="Rb95f619acef5458f" /><Relationship Type="http://schemas.openxmlformats.org/officeDocument/2006/relationships/tableStyles" Target="/ppt/tableStyles.xml" Id="Rba227406d92e4216" /><Relationship Type="http://schemas.openxmlformats.org/officeDocument/2006/relationships/slide" Target="/ppt/slides/slide1.xml" Id="R23b556212b1249ff" /><Relationship Type="http://schemas.openxmlformats.org/officeDocument/2006/relationships/slide" Target="/ppt/slides/slide2.xml" Id="Rd7509ceea1c04a6f" /><Relationship Type="http://schemas.openxmlformats.org/officeDocument/2006/relationships/slide" Target="/ppt/slides/slide3.xml" Id="R73c72626f6e64fa9" /><Relationship Type="http://schemas.openxmlformats.org/officeDocument/2006/relationships/slide" Target="/ppt/slides/slide4.xml" Id="R1a769bf58dc14d59" /><Relationship Type="http://schemas.openxmlformats.org/officeDocument/2006/relationships/slide" Target="/ppt/slides/slide5.xml" Id="Re0132a9bd916487c" /><Relationship Type="http://schemas.openxmlformats.org/officeDocument/2006/relationships/slide" Target="/ppt/slides/slide6.xml" Id="R11fa5901e907450d" /><Relationship Type="http://schemas.openxmlformats.org/officeDocument/2006/relationships/slide" Target="/ppt/slides/slide7.xml" Id="R60ef69c93a094913" /><Relationship Type="http://schemas.openxmlformats.org/officeDocument/2006/relationships/slide" Target="/ppt/slides/slide8.xml" Id="R408954e0705b46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e3c23d2fed142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20284b548284545" /><Relationship Type="http://schemas.openxmlformats.org/officeDocument/2006/relationships/notesMaster" Target="/ppt/notesMasters/notesMaster1.xml" Id="Rd133b71a701b4a48" /></Relationships>
</file>

<file path=ppt/notesSlides/_rels/notesSlide2.xml.rels>&#65279;<?xml version="1.0" encoding="utf-8"?><Relationships xmlns="http://schemas.openxmlformats.org/package/2006/relationships"><Relationship Type="http://schemas.openxmlformats.org/officeDocument/2006/relationships/slide" Target="/ppt/slides/slide2.xml" Id="R1e93eddb2f274315" /><Relationship Type="http://schemas.openxmlformats.org/officeDocument/2006/relationships/notesMaster" Target="/ppt/notesMasters/notesMaster1.xml" Id="Rc5d236fa896e4b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c491f9e2b442ec" /><Relationship Type="http://schemas.openxmlformats.org/officeDocument/2006/relationships/notesMaster" Target="/ppt/notesMasters/notesMaster1.xml" Id="Rbc074bbad42e41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1a47fa470a41c8" /><Relationship Type="http://schemas.openxmlformats.org/officeDocument/2006/relationships/notesMaster" Target="/ppt/notesMasters/notesMaster1.xml" Id="R99d4cf93b19e49d7" /></Relationships>
</file>

<file path=ppt/notesSlides/_rels/notesSlide5.xml.rels>&#65279;<?xml version="1.0" encoding="utf-8"?><Relationships xmlns="http://schemas.openxmlformats.org/package/2006/relationships"><Relationship Type="http://schemas.openxmlformats.org/officeDocument/2006/relationships/slide" Target="/ppt/slides/slide5.xml" Id="R493e924838614c56" /><Relationship Type="http://schemas.openxmlformats.org/officeDocument/2006/relationships/notesMaster" Target="/ppt/notesMasters/notesMaster1.xml" Id="R3dddc3bfd5574aa5"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877231561d4191" /><Relationship Type="http://schemas.openxmlformats.org/officeDocument/2006/relationships/notesMaster" Target="/ppt/notesMasters/notesMaster1.xml" Id="Rdafded5193504b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e9f966d00b724ccc" /><Relationship Type="http://schemas.openxmlformats.org/officeDocument/2006/relationships/notesMaster" Target="/ppt/notesMasters/notesMaster1.xml" Id="R8d270d4ec9bd40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0b6ba82a40749e4" /><Relationship Type="http://schemas.openxmlformats.org/officeDocument/2006/relationships/notesMaster" Target="/ppt/notesMasters/notesMaster1.xml" Id="R1b379ea2f61f499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hot take. Teams can already inspect agent failures, but a plausible model repair is not safe learning. SuperTuriya separates suggestion from authority: a model may propose, deterministic code must verify, and a human decides what becomes durable policy.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the user precisely: platform and reliability teams running stateful, tool-using agents. Their bottleneck is not a lack of logs. It is the missing authority boundary between diagnosis and durable behavior change. The demo uses a safe simulated provisioning workflow so every consequential action stays sandboxed.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purposeful agent use. Investigator turns a long trajectory into a structured critical-step diagnosis. Adaptation selects one bounded repair surface. Neither agent can execute or approve anything. The deterministic verifier owns correctness, and the human owns authority. This separation is the main engineering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Switch to the live UI for this slide. Select eval-006. Show that the request says quantity two but the tool receives negative two. Click Investigate and point to the critical step, invariant, evidence reference, and typed operation. Explain that the candidate has not executed. Approve replay, show all seven invariants pass with no safety regression, then separately activate the procedural policy and show its audit ID.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select eval-012. The ordering repair is plausible and fixes one cause, but it does not restore the missing evidence reference. Replay still fails, so the verifier blocks activation. This is important: the system is useful not only when it repairs a case, but when it prevents an incomplete repair from becoming durable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changelog briefly. The raw baseline recovered three of twelve controlled development cases. Structured diagnosis helped, but the main product contribution was the governed lifecycle: typed candidate, approval, frozen replay, deterministic verification, and separate activation. Also show intellectual honesty: the internally authored transfer benchmark was removed from the final validation claim because it knew the repair vocabulary and produced no live lift.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this from the development benchmark. We froze the SUT first, then evaluated sixteen blinded and adversarial cases authored by an AI Person A from a sanitized packet and separately reviewed. Across three trials, the direct baseline and SuperTuriya both recovered eight of sixteen, so measured lift was zero. We preserved that result. The system localized accepted critical steps perfectly and identified decisive invariants strongly, but exact repair-surface selection was only 41.67 percent. That is the honest next bottleneck.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reproducibility and the hot take. A clean public clone passes all fifty-eight tests. The credential-free path reproduces the deterministic demo, replay, scoring, and frozen hashes. Provider inference is optional and is never disguised as deterministic reproduction. The practical lesson is that reliable agent learning is an authority-design problem, not only a prompting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6a6a0e9da0d408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6534f354f74099" /><Relationship Type="http://schemas.openxmlformats.org/officeDocument/2006/relationships/slideLayout" Target="/ppt/slideLayouts/slideLayout1.xml" Id="R8a1365cab9cf403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a1365cab9cf403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7be39f062a54752" /><Relationship Type="http://schemas.openxmlformats.org/officeDocument/2006/relationships/notesSlide" Target="/ppt/notesSlides/notesSlide1.xml" Id="R493bb86b45854e6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33b84877e3e4ae2" /><Relationship Type="http://schemas.openxmlformats.org/officeDocument/2006/relationships/notesSlide" Target="/ppt/notesSlides/notesSlide2.xml" Id="R92d5f00a66f448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3172b567fce4bed" /><Relationship Type="http://schemas.openxmlformats.org/officeDocument/2006/relationships/notesSlide" Target="/ppt/notesSlides/notesSlide3.xml" Id="Rdfc09756d0c14d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46f34c44e194867" /><Relationship Type="http://schemas.openxmlformats.org/officeDocument/2006/relationships/notesSlide" Target="/ppt/notesSlides/notesSlide4.xml" Id="Rfccbbc9448e4426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bc96171b77c450b" /><Relationship Type="http://schemas.openxmlformats.org/officeDocument/2006/relationships/notesSlide" Target="/ppt/notesSlides/notesSlide5.xml" Id="R4ba273044e8a48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16e6a2868b148e1" /><Relationship Type="http://schemas.openxmlformats.org/officeDocument/2006/relationships/notesSlide" Target="/ppt/notesSlides/notesSlide6.xml" Id="Rd80d8aa5202b466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5ccfc108f394434" /><Relationship Type="http://schemas.openxmlformats.org/officeDocument/2006/relationships/notesSlide" Target="/ppt/notesSlides/notesSlide7.xml" Id="R14f4f2a92ab944c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a906c69115f4442" /><Relationship Type="http://schemas.openxmlformats.org/officeDocument/2006/relationships/notesSlide" Target="/ppt/notesSlides/notesSlide8.xml" Id="Rffb47b43df9d45fb" /></Relationships>
</file>

<file path=ppt/slides/slide1.xml><?xml version="1.0" encoding="utf-8"?>
<p:sld xmlns:p="http://schemas.openxmlformats.org/presentationml/2006/main">
  <p:cSld>
    <p:bg>
      <p:bgPr>
        <a:solidFill xmlns:a="http://schemas.openxmlformats.org/drawingml/2006/main">
          <a:srgbClr val="07110F"/>
        </a:solidFill>
      </p:bgPr>
    </p:bg>
    <p:spTree>
      <p:nvGrpSpPr>
        <p:cNvPr id="1" name=""/>
        <p:cNvGrpSpPr/>
        <p:nvPr/>
      </p:nvGrpSpPr>
      <p:grpSpPr>
        <a:xfrm xmlns:a="http://schemas.openxmlformats.org/drawingml/2006/main"/>
      </p:grpSpPr>
      <p:sp>
        <p:nvSpPr>
          <p:cNvPr id="1" name="cover-accent">
            <a:extLst xmlns:a="http://schemas.openxmlformats.org/drawingml/2006/main">
              <a:ext uri="{FF2B5EF4-FFF2-40B4-BE49-F238E27FC236}">
                <a16:creationId xmlns:a16="http://schemas.microsoft.com/office/drawing/2014/main" id="{27939F88-F72C-4970-943D-AFCAB97EDFCF}"/>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2" name="cover-brand">
            <a:extLst xmlns:a="http://schemas.openxmlformats.org/drawingml/2006/main">
              <a:ext uri="{FF2B5EF4-FFF2-40B4-BE49-F238E27FC236}">
                <a16:creationId xmlns:a16="http://schemas.microsoft.com/office/drawing/2014/main" id="{C25E4350-5A4B-4BF1-9CE4-89A06AB58F37}"/>
              </a:ext>
            </a:extLst>
          </p:cNvPr>
          <p:cNvSpPr>
            <a:spLocks xmlns:a="http://schemas.openxmlformats.org/drawingml/2006/main" noGrp="1"/>
          </p:cNvSpPr>
          <p:nvPr/>
        </p:nvSpPr>
        <p:spPr>
          <a:xfrm xmlns:a="http://schemas.openxmlformats.org/drawingml/2006/main">
            <a:off x="609600" y="514350"/>
            <a:ext cx="3429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7CF5B5"/>
                </a:solidFill>
              </a:defRPr>
            </a:pPr>
            <a:r>
              <a:rPr sz="1200" b="1">
                <a:solidFill>
                  <a:srgbClr val="7CF5B5"/>
                </a:solidFill>
              </a:rPr>
              <a:t>SUPERTURIYA</a:t>
            </a:r>
          </a:p>
        </p:txBody>
      </p:sp>
      <p:sp>
        <p:nvSpPr>
          <p:cNvPr id="3" name="cover-title">
            <a:extLst xmlns:a="http://schemas.openxmlformats.org/drawingml/2006/main">
              <a:ext uri="{FF2B5EF4-FFF2-40B4-BE49-F238E27FC236}">
                <a16:creationId xmlns:a16="http://schemas.microsoft.com/office/drawing/2014/main" id="{B99F2499-4B03-473C-8B03-41B9A7C5AE94}"/>
              </a:ext>
            </a:extLst>
          </p:cNvPr>
          <p:cNvSpPr>
            <a:spLocks xmlns:a="http://schemas.openxmlformats.org/drawingml/2006/main" noGrp="1"/>
          </p:cNvSpPr>
          <p:nvPr/>
        </p:nvSpPr>
        <p:spPr>
          <a:xfrm xmlns:a="http://schemas.openxmlformats.org/drawingml/2006/main">
            <a:off x="609600" y="1600200"/>
            <a:ext cx="1009650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4350" b="1">
                <a:solidFill>
                  <a:srgbClr val="EDF7F0"/>
                </a:solidFill>
              </a:defRPr>
            </a:pPr>
            <a:r>
              <a:rPr sz="4350" b="1">
                <a:solidFill>
                  <a:srgbClr val="EDF7F0"/>
                </a:solidFill>
              </a:rPr>
              <a:t>An agent can propose a repair.</a:t>
            </a:r>
          </a:p>
          <a:p xmlns:a="http://schemas.openxmlformats.org/drawingml/2006/main">
            <a:pPr algn="l">
              <a:defRPr sz="4350" b="1">
                <a:solidFill>
                  <a:srgbClr val="EDF7F0"/>
                </a:solidFill>
              </a:defRPr>
            </a:pPr>
            <a:r>
              <a:rPr sz="4350" b="1">
                <a:solidFill>
                  <a:srgbClr val="EDF7F0"/>
                </a:solidFill>
              </a:rPr>
              <a:t>It cannot decide that it has learned.</a:t>
            </a:r>
          </a:p>
        </p:txBody>
      </p:sp>
      <p:sp>
        <p:nvSpPr>
          <p:cNvPr id="4" name="cover-subtitle">
            <a:extLst xmlns:a="http://schemas.openxmlformats.org/drawingml/2006/main">
              <a:ext uri="{FF2B5EF4-FFF2-40B4-BE49-F238E27FC236}">
                <a16:creationId xmlns:a16="http://schemas.microsoft.com/office/drawing/2014/main" id="{44553CAB-F0C1-4766-B5B5-5FEC837D3CBD}"/>
              </a:ext>
            </a:extLst>
          </p:cNvPr>
          <p:cNvSpPr>
            <a:spLocks xmlns:a="http://schemas.openxmlformats.org/drawingml/2006/main" noGrp="1"/>
          </p:cNvSpPr>
          <p:nvPr/>
        </p:nvSpPr>
        <p:spPr>
          <a:xfrm xmlns:a="http://schemas.openxmlformats.org/drawingml/2006/main">
            <a:off x="647700" y="3638550"/>
            <a:ext cx="8096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9BB0A5"/>
                </a:solidFill>
              </a:defRPr>
            </a:pPr>
            <a:r>
              <a:rPr sz="1800" b="0">
                <a:solidFill>
                  <a:srgbClr val="9BB0A5"/>
                </a:solidFill>
              </a:rPr>
              <a:t>A human-governed control plane for turning failed agent trajectories into verified procedural learning.</a:t>
            </a:r>
          </a:p>
        </p:txBody>
      </p:sp>
      <p:sp>
        <p:nvSpPr>
          <p:cNvPr id="5" name="">
            <a:extLst xmlns:a="http://schemas.openxmlformats.org/drawingml/2006/main">
              <a:ext uri="{FF2B5EF4-FFF2-40B4-BE49-F238E27FC236}">
                <a16:creationId xmlns:a16="http://schemas.microsoft.com/office/drawing/2014/main" id="{8EE8DA6F-27E5-44DF-AAF7-55CD6ECF79AE}"/>
              </a:ext>
            </a:extLst>
          </p:cNvPr>
          <p:cNvSpPr>
            <a:spLocks xmlns:a="http://schemas.openxmlformats.org/drawingml/2006/main" noGrp="1"/>
          </p:cNvSpPr>
          <p:nvPr/>
        </p:nvSpPr>
        <p:spPr>
          <a:xfrm xmlns:a="http://schemas.openxmlformats.org/drawingml/2006/main">
            <a:off x="647700" y="4810125"/>
            <a:ext cx="5905500" cy="0"/>
          </a:xfrm>
          <a:prstGeom xmlns:a="http://schemas.openxmlformats.org/drawingml/2006/main" prst="line">
            <a:avLst/>
          </a:prstGeom>
          <a:noFill xmlns:a="http://schemas.openxmlformats.org/drawingml/2006/main"/>
          <a:ln xmlns:a="http://schemas.openxmlformats.org/drawingml/2006/main" w="19050">
            <a:solidFill>
              <a:srgbClr val="24483C"/>
            </a:solidFill>
            <a:prstDash val="solid"/>
          </a:ln>
        </p:spPr>
      </p:sp>
      <p:sp>
        <p:nvSpPr>
          <p:cNvPr id="6" name="cover-loop">
            <a:extLst xmlns:a="http://schemas.openxmlformats.org/drawingml/2006/main">
              <a:ext uri="{FF2B5EF4-FFF2-40B4-BE49-F238E27FC236}">
                <a16:creationId xmlns:a16="http://schemas.microsoft.com/office/drawing/2014/main" id="{5AAEF9EE-20DE-47E4-9F19-6DA0BD2D5DB6}"/>
              </a:ext>
            </a:extLst>
          </p:cNvPr>
          <p:cNvSpPr>
            <a:spLocks xmlns:a="http://schemas.openxmlformats.org/drawingml/2006/main" noGrp="1"/>
          </p:cNvSpPr>
          <p:nvPr/>
        </p:nvSpPr>
        <p:spPr>
          <a:xfrm xmlns:a="http://schemas.openxmlformats.org/drawingml/2006/main">
            <a:off x="647700" y="504825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7CF5B5"/>
                </a:solidFill>
              </a:defRPr>
            </a:pPr>
            <a:r>
              <a:rPr sz="1125" b="1">
                <a:solidFill>
                  <a:srgbClr val="7CF5B5"/>
                </a:solidFill>
              </a:rPr>
              <a:t>MODEL PROPOSES   →   CODE VERIFIES   →   HUMAN GOVERNS</a:t>
            </a:r>
          </a:p>
        </p:txBody>
      </p:sp>
      <p:sp>
        <p:nvSpPr>
          <p:cNvPr id="7" name="cover-meta">
            <a:extLst xmlns:a="http://schemas.openxmlformats.org/drawingml/2006/main">
              <a:ext uri="{FF2B5EF4-FFF2-40B4-BE49-F238E27FC236}">
                <a16:creationId xmlns:a16="http://schemas.microsoft.com/office/drawing/2014/main" id="{78ACCAF6-A5E2-40D6-82D2-48EED7538ED3}"/>
              </a:ext>
            </a:extLst>
          </p:cNvPr>
          <p:cNvSpPr>
            <a:spLocks xmlns:a="http://schemas.openxmlformats.org/drawingml/2006/main" noGrp="1"/>
          </p:cNvSpPr>
          <p:nvPr/>
        </p:nvSpPr>
        <p:spPr>
          <a:xfrm xmlns:a="http://schemas.openxmlformats.org/drawingml/2006/main">
            <a:off x="647700" y="5953125"/>
            <a:ext cx="7239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60766B"/>
                </a:solidFill>
              </a:defRPr>
            </a:pPr>
            <a:r>
              <a:rPr sz="975" b="0">
                <a:solidFill>
                  <a:srgbClr val="60766B"/>
                </a:solidFill>
              </a:rPr>
              <a:t>Founder-led · spec-driven · built with Codex as engineering collaborator</a:t>
            </a:r>
          </a:p>
        </p:txBody>
      </p:sp>
      <p:sp>
        <p:nvSpPr>
          <p:cNvPr id="8" name="cover-event">
            <a:extLst xmlns:a="http://schemas.openxmlformats.org/drawingml/2006/main">
              <a:ext uri="{FF2B5EF4-FFF2-40B4-BE49-F238E27FC236}">
                <a16:creationId xmlns:a16="http://schemas.microsoft.com/office/drawing/2014/main" id="{A34BC013-84B7-4984-9668-E81A7FE5874E}"/>
              </a:ext>
            </a:extLst>
          </p:cNvPr>
          <p:cNvSpPr>
            <a:spLocks xmlns:a="http://schemas.openxmlformats.org/drawingml/2006/main" noGrp="1"/>
          </p:cNvSpPr>
          <p:nvPr/>
        </p:nvSpPr>
        <p:spPr>
          <a:xfrm xmlns:a="http://schemas.openxmlformats.org/drawingml/2006/main">
            <a:off x="8286750" y="5953125"/>
            <a:ext cx="3238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9BB0A5"/>
                </a:solidFill>
              </a:defRPr>
            </a:pPr>
            <a:r>
              <a:rPr sz="975" b="0">
                <a:solidFill>
                  <a:srgbClr val="9BB0A5"/>
                </a:solidFill>
              </a:rPr>
              <a:t>micro1 Frontier Engineering Challenge 2026</a:t>
            </a:r>
          </a:p>
        </p:txBody>
      </p:sp>
    </p:spTree>
    <p:extLst>
      <p:ext uri="{BB962C8B-B14F-4D97-AF65-F5344CB8AC3E}">
        <p14:creationId xmlns:p14="http://schemas.microsoft.com/office/powerpoint/2010/main" val="2117978981"/>
      </p:ext>
    </p:extLst>
  </p:cSld>
</p:sld>
</file>

<file path=ppt/slides/slide2.xml><?xml version="1.0" encoding="utf-8"?>
<p:sld xmlns:p="http://schemas.openxmlformats.org/presentationml/2006/main">
  <p:cSld>
    <p:bg>
      <p:bgPr>
        <a:solidFill xmlns:a="http://schemas.openxmlformats.org/drawingml/2006/main">
          <a:srgbClr val="07110F"/>
        </a:solidFill>
      </p:bgPr>
    </p:bg>
    <p:spTree>
      <p:nvGrpSpPr>
        <p:cNvPr id="1" name=""/>
        <p:cNvGrpSpPr/>
        <p:nvPr/>
      </p:nvGrpSpPr>
      <p:grpSpPr>
        <a:xfrm xmlns:a="http://schemas.openxmlformats.org/drawingml/2006/main"/>
      </p:grpSpPr>
      <p:sp>
        <p:nvSpPr>
          <p:cNvPr id="1" name="accent-2">
            <a:extLst xmlns:a="http://schemas.openxmlformats.org/drawingml/2006/main">
              <a:ext uri="{FF2B5EF4-FFF2-40B4-BE49-F238E27FC236}">
                <a16:creationId xmlns:a16="http://schemas.microsoft.com/office/drawing/2014/main" id="{148AC8CD-E475-4A0E-BEA7-1564B6DFDB4F}"/>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2" name="section-2">
            <a:extLst xmlns:a="http://schemas.openxmlformats.org/drawingml/2006/main">
              <a:ext uri="{FF2B5EF4-FFF2-40B4-BE49-F238E27FC236}">
                <a16:creationId xmlns:a16="http://schemas.microsoft.com/office/drawing/2014/main" id="{060A5998-5086-4A5C-A5CF-60AD4E3D5F62}"/>
              </a:ext>
            </a:extLst>
          </p:cNvPr>
          <p:cNvSpPr>
            <a:spLocks xmlns:a="http://schemas.openxmlformats.org/drawingml/2006/main" noGrp="1"/>
          </p:cNvSpPr>
          <p:nvPr/>
        </p:nvSpPr>
        <p:spPr>
          <a:xfrm xmlns:a="http://schemas.openxmlformats.org/drawingml/2006/main">
            <a:off x="552450" y="333375"/>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PROBLEM AND USER VALUE</a:t>
            </a:r>
          </a:p>
        </p:txBody>
      </p:sp>
      <p:sp>
        <p:nvSpPr>
          <p:cNvPr id="3" name="brand-2">
            <a:extLst xmlns:a="http://schemas.openxmlformats.org/drawingml/2006/main">
              <a:ext uri="{FF2B5EF4-FFF2-40B4-BE49-F238E27FC236}">
                <a16:creationId xmlns:a16="http://schemas.microsoft.com/office/drawing/2014/main" id="{151406CA-0C23-45D8-AC76-5A9A7CFA74FB}"/>
              </a:ext>
            </a:extLst>
          </p:cNvPr>
          <p:cNvSpPr>
            <a:spLocks xmlns:a="http://schemas.openxmlformats.org/drawingml/2006/main" noGrp="1"/>
          </p:cNvSpPr>
          <p:nvPr/>
        </p:nvSpPr>
        <p:spPr>
          <a:xfrm xmlns:a="http://schemas.openxmlformats.org/drawingml/2006/main">
            <a:off x="9953625" y="333375"/>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BB0A5"/>
                </a:solidFill>
              </a:defRPr>
            </a:pPr>
            <a:r>
              <a:rPr sz="975" b="1">
                <a:solidFill>
                  <a:srgbClr val="9BB0A5"/>
                </a:solidFill>
              </a:rPr>
              <a:t>SUPERTURIYA</a:t>
            </a:r>
          </a:p>
        </p:txBody>
      </p:sp>
      <p:sp>
        <p:nvSpPr>
          <p:cNvPr id="4" name="">
            <a:extLst xmlns:a="http://schemas.openxmlformats.org/drawingml/2006/main">
              <a:ext uri="{FF2B5EF4-FFF2-40B4-BE49-F238E27FC236}">
                <a16:creationId xmlns:a16="http://schemas.microsoft.com/office/drawing/2014/main" id="{FCA3E3E2-EA71-4FD1-9AD1-CF070E5FED3B}"/>
              </a:ext>
            </a:extLst>
          </p:cNvPr>
          <p:cNvSpPr>
            <a:spLocks xmlns:a="http://schemas.openxmlformats.org/drawingml/2006/main" noGrp="1"/>
          </p:cNvSpPr>
          <p:nvPr/>
        </p:nvSpPr>
        <p:spPr>
          <a:xfrm xmlns:a="http://schemas.openxmlformats.org/drawingml/2006/main">
            <a:off x="552450" y="6429375"/>
            <a:ext cx="10972800"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5" name="footer-2">
            <a:extLst xmlns:a="http://schemas.openxmlformats.org/drawingml/2006/main">
              <a:ext uri="{FF2B5EF4-FFF2-40B4-BE49-F238E27FC236}">
                <a16:creationId xmlns:a16="http://schemas.microsoft.com/office/drawing/2014/main" id="{A8ECC5CE-37A8-4C0F-A953-CEB491611302}"/>
              </a:ext>
            </a:extLst>
          </p:cNvPr>
          <p:cNvSpPr>
            <a:spLocks xmlns:a="http://schemas.openxmlformats.org/drawingml/2006/main" noGrp="1"/>
          </p:cNvSpPr>
          <p:nvPr/>
        </p:nvSpPr>
        <p:spPr>
          <a:xfrm xmlns:a="http://schemas.openxmlformats.org/drawingml/2006/main">
            <a:off x="552450" y="65341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60766B"/>
                </a:solidFill>
              </a:defRPr>
            </a:pPr>
            <a:r>
              <a:rPr sz="750" b="0">
                <a:solidFill>
                  <a:srgbClr val="60766B"/>
                </a:solidFill>
              </a:rPr>
              <a:t>micro1 Agentic Workflows Hackathon · submission deck</a:t>
            </a:r>
          </a:p>
        </p:txBody>
      </p:sp>
      <p:sp>
        <p:nvSpPr>
          <p:cNvPr id="6" name="page-2">
            <a:extLst xmlns:a="http://schemas.openxmlformats.org/drawingml/2006/main">
              <a:ext uri="{FF2B5EF4-FFF2-40B4-BE49-F238E27FC236}">
                <a16:creationId xmlns:a16="http://schemas.microsoft.com/office/drawing/2014/main" id="{DC5C8EBC-D235-49F1-BE17-A62163C6DB5D}"/>
              </a:ext>
            </a:extLst>
          </p:cNvPr>
          <p:cNvSpPr>
            <a:spLocks xmlns:a="http://schemas.openxmlformats.org/drawingml/2006/main" noGrp="1"/>
          </p:cNvSpPr>
          <p:nvPr/>
        </p:nvSpPr>
        <p:spPr>
          <a:xfrm xmlns:a="http://schemas.openxmlformats.org/drawingml/2006/main">
            <a:off x="1104900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66B"/>
                </a:solidFill>
              </a:defRPr>
            </a:pPr>
            <a:r>
              <a:rPr sz="825" b="1">
                <a:solidFill>
                  <a:srgbClr val="60766B"/>
                </a:solidFill>
              </a:rPr>
              <a:t>02</a:t>
            </a:r>
          </a:p>
        </p:txBody>
      </p:sp>
      <p:sp>
        <p:nvSpPr>
          <p:cNvPr id="7" name="slide-title">
            <a:extLst xmlns:a="http://schemas.openxmlformats.org/drawingml/2006/main">
              <a:ext uri="{FF2B5EF4-FFF2-40B4-BE49-F238E27FC236}">
                <a16:creationId xmlns:a16="http://schemas.microsoft.com/office/drawing/2014/main" id="{05040B78-8794-4270-8A58-14E607C069ED}"/>
              </a:ext>
            </a:extLst>
          </p:cNvPr>
          <p:cNvSpPr>
            <a:spLocks xmlns:a="http://schemas.openxmlformats.org/drawingml/2006/main" noGrp="1"/>
          </p:cNvSpPr>
          <p:nvPr/>
        </p:nvSpPr>
        <p:spPr>
          <a:xfrm xmlns:a="http://schemas.openxmlformats.org/drawingml/2006/main">
            <a:off x="552450" y="838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EDF7F0"/>
                </a:solidFill>
              </a:defRPr>
            </a:pPr>
            <a:r>
              <a:rPr sz="3600" b="1">
                <a:solidFill>
                  <a:srgbClr val="EDF7F0"/>
                </a:solidFill>
              </a:rPr>
              <a:t>Agent teams can see failures. They cannot safely learn from them.</a:t>
            </a:r>
          </a:p>
        </p:txBody>
      </p:sp>
      <p:sp>
        <p:nvSpPr>
          <p:cNvPr id="8" name="user-label">
            <a:extLst xmlns:a="http://schemas.openxmlformats.org/drawingml/2006/main">
              <a:ext uri="{FF2B5EF4-FFF2-40B4-BE49-F238E27FC236}">
                <a16:creationId xmlns:a16="http://schemas.microsoft.com/office/drawing/2014/main" id="{7966A64A-B98D-4A43-8D54-376D4D3D88CC}"/>
              </a:ext>
            </a:extLst>
          </p:cNvPr>
          <p:cNvSpPr>
            <a:spLocks xmlns:a="http://schemas.openxmlformats.org/drawingml/2006/main" noGrp="1"/>
          </p:cNvSpPr>
          <p:nvPr/>
        </p:nvSpPr>
        <p:spPr>
          <a:xfrm xmlns:a="http://schemas.openxmlformats.org/drawingml/2006/main">
            <a:off x="552450" y="209550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C66D"/>
                </a:solidFill>
              </a:defRPr>
            </a:pPr>
            <a:r>
              <a:rPr sz="975" b="1">
                <a:solidFill>
                  <a:srgbClr val="FFC66D"/>
                </a:solidFill>
              </a:rPr>
              <a:t>WHO HAS THIS PROBLEM</a:t>
            </a:r>
          </a:p>
        </p:txBody>
      </p:sp>
      <p:sp>
        <p:nvSpPr>
          <p:cNvPr id="9" name="user">
            <a:extLst xmlns:a="http://schemas.openxmlformats.org/drawingml/2006/main">
              <a:ext uri="{FF2B5EF4-FFF2-40B4-BE49-F238E27FC236}">
                <a16:creationId xmlns:a16="http://schemas.microsoft.com/office/drawing/2014/main" id="{F17FA7CE-6EC0-48DB-AC86-9B3DDE21F669}"/>
              </a:ext>
            </a:extLst>
          </p:cNvPr>
          <p:cNvSpPr>
            <a:spLocks xmlns:a="http://schemas.openxmlformats.org/drawingml/2006/main" noGrp="1"/>
          </p:cNvSpPr>
          <p:nvPr/>
        </p:nvSpPr>
        <p:spPr>
          <a:xfrm xmlns:a="http://schemas.openxmlformats.org/drawingml/2006/main">
            <a:off x="552450" y="2457450"/>
            <a:ext cx="4572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EDF7F0"/>
                </a:solidFill>
              </a:defRPr>
            </a:pPr>
            <a:r>
              <a:rPr sz="2025" b="1">
                <a:solidFill>
                  <a:srgbClr val="EDF7F0"/>
                </a:solidFill>
              </a:rPr>
              <a:t>Platform and reliability teams operating stateful, tool-using agents in consequential workflows.</a:t>
            </a:r>
          </a:p>
        </p:txBody>
      </p:sp>
      <p:sp>
        <p:nvSpPr>
          <p:cNvPr id="10" name="">
            <a:extLst xmlns:a="http://schemas.openxmlformats.org/drawingml/2006/main">
              <a:ext uri="{FF2B5EF4-FFF2-40B4-BE49-F238E27FC236}">
                <a16:creationId xmlns:a16="http://schemas.microsoft.com/office/drawing/2014/main" id="{867CB50F-C513-4E8A-AB1D-E43721887908}"/>
              </a:ext>
            </a:extLst>
          </p:cNvPr>
          <p:cNvSpPr>
            <a:spLocks xmlns:a="http://schemas.openxmlformats.org/drawingml/2006/main" noGrp="1"/>
          </p:cNvSpPr>
          <p:nvPr/>
        </p:nvSpPr>
        <p:spPr>
          <a:xfrm xmlns:a="http://schemas.openxmlformats.org/drawingml/2006/main">
            <a:off x="5905500" y="2095500"/>
            <a:ext cx="9525"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11" name="bottleneck-label">
            <a:extLst xmlns:a="http://schemas.openxmlformats.org/drawingml/2006/main">
              <a:ext uri="{FF2B5EF4-FFF2-40B4-BE49-F238E27FC236}">
                <a16:creationId xmlns:a16="http://schemas.microsoft.com/office/drawing/2014/main" id="{A90B9B4F-6F9B-4644-BE31-C14F1526D29F}"/>
              </a:ext>
            </a:extLst>
          </p:cNvPr>
          <p:cNvSpPr>
            <a:spLocks xmlns:a="http://schemas.openxmlformats.org/drawingml/2006/main" noGrp="1"/>
          </p:cNvSpPr>
          <p:nvPr/>
        </p:nvSpPr>
        <p:spPr>
          <a:xfrm xmlns:a="http://schemas.openxmlformats.org/drawingml/2006/main">
            <a:off x="6477000" y="2095500"/>
            <a:ext cx="285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8A7A"/>
                </a:solidFill>
              </a:defRPr>
            </a:pPr>
            <a:r>
              <a:rPr sz="975" b="1">
                <a:solidFill>
                  <a:srgbClr val="FF8A7A"/>
                </a:solidFill>
              </a:rPr>
              <a:t>THE BOTTLENECK</a:t>
            </a:r>
          </a:p>
        </p:txBody>
      </p:sp>
      <p:sp>
        <p:nvSpPr>
          <p:cNvPr id="12" name="bottleneck">
            <a:extLst xmlns:a="http://schemas.openxmlformats.org/drawingml/2006/main">
              <a:ext uri="{FF2B5EF4-FFF2-40B4-BE49-F238E27FC236}">
                <a16:creationId xmlns:a16="http://schemas.microsoft.com/office/drawing/2014/main" id="{54B5420A-11DE-459C-837C-052189AB45F8}"/>
              </a:ext>
            </a:extLst>
          </p:cNvPr>
          <p:cNvSpPr>
            <a:spLocks xmlns:a="http://schemas.openxmlformats.org/drawingml/2006/main" noGrp="1"/>
          </p:cNvSpPr>
          <p:nvPr/>
        </p:nvSpPr>
        <p:spPr>
          <a:xfrm xmlns:a="http://schemas.openxmlformats.org/drawingml/2006/main">
            <a:off x="6477000" y="245745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EDF7F0"/>
                </a:solidFill>
              </a:defRPr>
            </a:pPr>
            <a:r>
              <a:rPr sz="2025" b="1">
                <a:solidFill>
                  <a:srgbClr val="EDF7F0"/>
                </a:solidFill>
              </a:rPr>
              <a:t>Logs explain what happened. They do not govern whether a diagnosis becomes memory, routing, or policy.</a:t>
            </a:r>
          </a:p>
        </p:txBody>
      </p:sp>
      <p:sp>
        <p:nvSpPr>
          <p:cNvPr id="13" name="stakes">
            <a:extLst xmlns:a="http://schemas.openxmlformats.org/drawingml/2006/main">
              <a:ext uri="{FF2B5EF4-FFF2-40B4-BE49-F238E27FC236}">
                <a16:creationId xmlns:a16="http://schemas.microsoft.com/office/drawing/2014/main" id="{A0C45F76-41A7-4934-80E6-D78770C4E45F}"/>
              </a:ext>
            </a:extLst>
          </p:cNvPr>
          <p:cNvSpPr>
            <a:spLocks xmlns:a="http://schemas.openxmlformats.org/drawingml/2006/main" noGrp="1"/>
          </p:cNvSpPr>
          <p:nvPr/>
        </p:nvSpPr>
        <p:spPr>
          <a:xfrm xmlns:a="http://schemas.openxmlformats.org/drawingml/2006/main">
            <a:off x="552450" y="4648200"/>
            <a:ext cx="10477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7CF5B5"/>
                </a:solidFill>
              </a:defRPr>
            </a:pPr>
            <a:r>
              <a:rPr sz="2250" b="1">
                <a:solidFill>
                  <a:srgbClr val="7CF5B5"/>
                </a:solidFill>
              </a:rPr>
              <a:t>Without a controlled writeback loop, agents repeat failures—or silently learn the wrong lesson.</a:t>
            </a:r>
          </a:p>
        </p:txBody>
      </p:sp>
      <p:sp>
        <p:nvSpPr>
          <p:cNvPr id="14" name="scope">
            <a:extLst xmlns:a="http://schemas.openxmlformats.org/drawingml/2006/main">
              <a:ext uri="{FF2B5EF4-FFF2-40B4-BE49-F238E27FC236}">
                <a16:creationId xmlns:a16="http://schemas.microsoft.com/office/drawing/2014/main" id="{2AF7EDEE-D1AD-4A29-97B7-6E31DE3B0D10}"/>
              </a:ext>
            </a:extLst>
          </p:cNvPr>
          <p:cNvSpPr>
            <a:spLocks xmlns:a="http://schemas.openxmlformats.org/drawingml/2006/main" noGrp="1"/>
          </p:cNvSpPr>
          <p:nvPr/>
        </p:nvSpPr>
        <p:spPr>
          <a:xfrm xmlns:a="http://schemas.openxmlformats.org/drawingml/2006/main">
            <a:off x="552450" y="5553075"/>
            <a:ext cx="10287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Demo workload: simulated enterprise resource provisioning with region, quantity, evidence, approval, and execution-order constraints.</a:t>
            </a:r>
          </a:p>
        </p:txBody>
      </p:sp>
    </p:spTree>
    <p:extLst>
      <p:ext uri="{BB962C8B-B14F-4D97-AF65-F5344CB8AC3E}">
        <p14:creationId xmlns:p14="http://schemas.microsoft.com/office/powerpoint/2010/main" val="83578864"/>
      </p:ext>
    </p:extLst>
  </p:cSld>
</p:sld>
</file>

<file path=ppt/slides/slide3.xml><?xml version="1.0" encoding="utf-8"?>
<p:sld xmlns:p="http://schemas.openxmlformats.org/presentationml/2006/main">
  <p:cSld>
    <p:bg>
      <p:bgPr>
        <a:solidFill xmlns:a="http://schemas.openxmlformats.org/drawingml/2006/main">
          <a:srgbClr val="07110F"/>
        </a:solidFill>
      </p:bgPr>
    </p:bg>
    <p:spTree>
      <p:nvGrpSpPr>
        <p:cNvPr id="1" name=""/>
        <p:cNvGrpSpPr/>
        <p:nvPr/>
      </p:nvGrpSpPr>
      <p:grpSpPr>
        <a:xfrm xmlns:a="http://schemas.openxmlformats.org/drawingml/2006/main"/>
      </p:grpSpPr>
      <p:sp>
        <p:nvSpPr>
          <p:cNvPr id="1" name="accent-3">
            <a:extLst xmlns:a="http://schemas.openxmlformats.org/drawingml/2006/main">
              <a:ext uri="{FF2B5EF4-FFF2-40B4-BE49-F238E27FC236}">
                <a16:creationId xmlns:a16="http://schemas.microsoft.com/office/drawing/2014/main" id="{86EDFA6B-0D66-425D-8077-83AE7CFC8EB1}"/>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2" name="section-3">
            <a:extLst xmlns:a="http://schemas.openxmlformats.org/drawingml/2006/main">
              <a:ext uri="{FF2B5EF4-FFF2-40B4-BE49-F238E27FC236}">
                <a16:creationId xmlns:a16="http://schemas.microsoft.com/office/drawing/2014/main" id="{7B7F86EF-D38A-4EA6-81C1-C0F13AA82860}"/>
              </a:ext>
            </a:extLst>
          </p:cNvPr>
          <p:cNvSpPr>
            <a:spLocks xmlns:a="http://schemas.openxmlformats.org/drawingml/2006/main" noGrp="1"/>
          </p:cNvSpPr>
          <p:nvPr/>
        </p:nvSpPr>
        <p:spPr>
          <a:xfrm xmlns:a="http://schemas.openxmlformats.org/drawingml/2006/main">
            <a:off x="552450" y="333375"/>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AGENT SOLUTION AND ENGINEERING</a:t>
            </a:r>
          </a:p>
        </p:txBody>
      </p:sp>
      <p:sp>
        <p:nvSpPr>
          <p:cNvPr id="3" name="brand-3">
            <a:extLst xmlns:a="http://schemas.openxmlformats.org/drawingml/2006/main">
              <a:ext uri="{FF2B5EF4-FFF2-40B4-BE49-F238E27FC236}">
                <a16:creationId xmlns:a16="http://schemas.microsoft.com/office/drawing/2014/main" id="{0DE83EA7-F342-4EC9-B0A4-13397060051E}"/>
              </a:ext>
            </a:extLst>
          </p:cNvPr>
          <p:cNvSpPr>
            <a:spLocks xmlns:a="http://schemas.openxmlformats.org/drawingml/2006/main" noGrp="1"/>
          </p:cNvSpPr>
          <p:nvPr/>
        </p:nvSpPr>
        <p:spPr>
          <a:xfrm xmlns:a="http://schemas.openxmlformats.org/drawingml/2006/main">
            <a:off x="9953625" y="333375"/>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BB0A5"/>
                </a:solidFill>
              </a:defRPr>
            </a:pPr>
            <a:r>
              <a:rPr sz="975" b="1">
                <a:solidFill>
                  <a:srgbClr val="9BB0A5"/>
                </a:solidFill>
              </a:rPr>
              <a:t>SUPERTURIYA</a:t>
            </a:r>
          </a:p>
        </p:txBody>
      </p:sp>
      <p:sp>
        <p:nvSpPr>
          <p:cNvPr id="4" name="">
            <a:extLst xmlns:a="http://schemas.openxmlformats.org/drawingml/2006/main">
              <a:ext uri="{FF2B5EF4-FFF2-40B4-BE49-F238E27FC236}">
                <a16:creationId xmlns:a16="http://schemas.microsoft.com/office/drawing/2014/main" id="{E0AC8C8A-A44D-4384-A742-7681C7A737D4}"/>
              </a:ext>
            </a:extLst>
          </p:cNvPr>
          <p:cNvSpPr>
            <a:spLocks xmlns:a="http://schemas.openxmlformats.org/drawingml/2006/main" noGrp="1"/>
          </p:cNvSpPr>
          <p:nvPr/>
        </p:nvSpPr>
        <p:spPr>
          <a:xfrm xmlns:a="http://schemas.openxmlformats.org/drawingml/2006/main">
            <a:off x="552450" y="6429375"/>
            <a:ext cx="10972800"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5" name="footer-3">
            <a:extLst xmlns:a="http://schemas.openxmlformats.org/drawingml/2006/main">
              <a:ext uri="{FF2B5EF4-FFF2-40B4-BE49-F238E27FC236}">
                <a16:creationId xmlns:a16="http://schemas.microsoft.com/office/drawing/2014/main" id="{F4921BDD-7AB9-41C8-8C6C-5C63B94B7246}"/>
              </a:ext>
            </a:extLst>
          </p:cNvPr>
          <p:cNvSpPr>
            <a:spLocks xmlns:a="http://schemas.openxmlformats.org/drawingml/2006/main" noGrp="1"/>
          </p:cNvSpPr>
          <p:nvPr/>
        </p:nvSpPr>
        <p:spPr>
          <a:xfrm xmlns:a="http://schemas.openxmlformats.org/drawingml/2006/main">
            <a:off x="552450" y="65341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60766B"/>
                </a:solidFill>
              </a:defRPr>
            </a:pPr>
            <a:r>
              <a:rPr sz="750" b="0">
                <a:solidFill>
                  <a:srgbClr val="60766B"/>
                </a:solidFill>
              </a:rPr>
              <a:t>micro1 Agentic Workflows Hackathon · submission deck</a:t>
            </a:r>
          </a:p>
        </p:txBody>
      </p:sp>
      <p:sp>
        <p:nvSpPr>
          <p:cNvPr id="6" name="page-3">
            <a:extLst xmlns:a="http://schemas.openxmlformats.org/drawingml/2006/main">
              <a:ext uri="{FF2B5EF4-FFF2-40B4-BE49-F238E27FC236}">
                <a16:creationId xmlns:a16="http://schemas.microsoft.com/office/drawing/2014/main" id="{3AB0F568-145A-4875-96A1-CAD4FE820C8B}"/>
              </a:ext>
            </a:extLst>
          </p:cNvPr>
          <p:cNvSpPr>
            <a:spLocks xmlns:a="http://schemas.openxmlformats.org/drawingml/2006/main" noGrp="1"/>
          </p:cNvSpPr>
          <p:nvPr/>
        </p:nvSpPr>
        <p:spPr>
          <a:xfrm xmlns:a="http://schemas.openxmlformats.org/drawingml/2006/main">
            <a:off x="1104900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66B"/>
                </a:solidFill>
              </a:defRPr>
            </a:pPr>
            <a:r>
              <a:rPr sz="825" b="1">
                <a:solidFill>
                  <a:srgbClr val="60766B"/>
                </a:solidFill>
              </a:rPr>
              <a:t>03</a:t>
            </a:r>
          </a:p>
        </p:txBody>
      </p:sp>
      <p:sp>
        <p:nvSpPr>
          <p:cNvPr id="7" name="slide-title">
            <a:extLst xmlns:a="http://schemas.openxmlformats.org/drawingml/2006/main">
              <a:ext uri="{FF2B5EF4-FFF2-40B4-BE49-F238E27FC236}">
                <a16:creationId xmlns:a16="http://schemas.microsoft.com/office/drawing/2014/main" id="{5EAF65B9-D372-4113-8AFA-A1405F7D8754}"/>
              </a:ext>
            </a:extLst>
          </p:cNvPr>
          <p:cNvSpPr>
            <a:spLocks xmlns:a="http://schemas.openxmlformats.org/drawingml/2006/main" noGrp="1"/>
          </p:cNvSpPr>
          <p:nvPr/>
        </p:nvSpPr>
        <p:spPr>
          <a:xfrm xmlns:a="http://schemas.openxmlformats.org/drawingml/2006/main">
            <a:off x="552450" y="838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EDF7F0"/>
                </a:solidFill>
              </a:defRPr>
            </a:pPr>
            <a:r>
              <a:rPr sz="3600" b="1">
                <a:solidFill>
                  <a:srgbClr val="EDF7F0"/>
                </a:solidFill>
              </a:rPr>
              <a:t>Five bounded roles turn one failure into governed learning.</a:t>
            </a:r>
          </a:p>
        </p:txBody>
      </p:sp>
      <p:sp>
        <p:nvSpPr>
          <p:cNvPr id="8" name="role-0">
            <a:extLst xmlns:a="http://schemas.openxmlformats.org/drawingml/2006/main">
              <a:ext uri="{FF2B5EF4-FFF2-40B4-BE49-F238E27FC236}">
                <a16:creationId xmlns:a16="http://schemas.microsoft.com/office/drawing/2014/main" id="{595EC8C5-0F74-43D4-965C-18D685789CD1}"/>
              </a:ext>
            </a:extLst>
          </p:cNvPr>
          <p:cNvSpPr>
            <a:spLocks xmlns:a="http://schemas.openxmlformats.org/drawingml/2006/main" noGrp="1"/>
          </p:cNvSpPr>
          <p:nvPr/>
        </p:nvSpPr>
        <p:spPr>
          <a:xfrm xmlns:a="http://schemas.openxmlformats.org/drawingml/2006/main">
            <a:off x="552450" y="2571750"/>
            <a:ext cx="1733550" cy="1952625"/>
          </a:xfrm>
          <a:prstGeom xmlns:a="http://schemas.openxmlformats.org/drawingml/2006/main" prst="roundRect">
            <a:avLst>
              <a:gd name="adj" fmla="val 5495"/>
            </a:avLst>
          </a:prstGeom>
          <a:solidFill xmlns:a="http://schemas.openxmlformats.org/drawingml/2006/main">
            <a:srgbClr val="0B1A16"/>
          </a:solidFill>
          <a:ln xmlns:a="http://schemas.openxmlformats.org/drawingml/2006/main" w="9525">
            <a:solidFill>
              <a:srgbClr val="24483C"/>
            </a:solidFill>
            <a:prstDash val="solid"/>
          </a:ln>
        </p:spPr>
      </p:sp>
      <p:sp>
        <p:nvSpPr>
          <p:cNvPr id="9" name="role-1">
            <a:extLst xmlns:a="http://schemas.openxmlformats.org/drawingml/2006/main">
              <a:ext uri="{FF2B5EF4-FFF2-40B4-BE49-F238E27FC236}">
                <a16:creationId xmlns:a16="http://schemas.microsoft.com/office/drawing/2014/main" id="{6977192F-BEC7-42A9-AB0A-89452EDBD9AF}"/>
              </a:ext>
            </a:extLst>
          </p:cNvPr>
          <p:cNvSpPr>
            <a:spLocks xmlns:a="http://schemas.openxmlformats.org/drawingml/2006/main" noGrp="1"/>
          </p:cNvSpPr>
          <p:nvPr/>
        </p:nvSpPr>
        <p:spPr>
          <a:xfrm xmlns:a="http://schemas.openxmlformats.org/drawingml/2006/main">
            <a:off x="2781300" y="2571750"/>
            <a:ext cx="1733550" cy="1952625"/>
          </a:xfrm>
          <a:prstGeom xmlns:a="http://schemas.openxmlformats.org/drawingml/2006/main" prst="roundRect">
            <a:avLst>
              <a:gd name="adj" fmla="val 5495"/>
            </a:avLst>
          </a:prstGeom>
          <a:solidFill xmlns:a="http://schemas.openxmlformats.org/drawingml/2006/main">
            <a:srgbClr val="0B1A16"/>
          </a:solidFill>
          <a:ln xmlns:a="http://schemas.openxmlformats.org/drawingml/2006/main" w="9525">
            <a:solidFill>
              <a:srgbClr val="24483C"/>
            </a:solidFill>
            <a:prstDash val="solid"/>
          </a:ln>
        </p:spPr>
      </p:sp>
      <p:sp>
        <p:nvSpPr>
          <p:cNvPr id="10" name="role-2">
            <a:extLst xmlns:a="http://schemas.openxmlformats.org/drawingml/2006/main">
              <a:ext uri="{FF2B5EF4-FFF2-40B4-BE49-F238E27FC236}">
                <a16:creationId xmlns:a16="http://schemas.microsoft.com/office/drawing/2014/main" id="{067B9C24-F63A-4D7F-BADF-3083C160F406}"/>
              </a:ext>
            </a:extLst>
          </p:cNvPr>
          <p:cNvSpPr>
            <a:spLocks xmlns:a="http://schemas.openxmlformats.org/drawingml/2006/main" noGrp="1"/>
          </p:cNvSpPr>
          <p:nvPr/>
        </p:nvSpPr>
        <p:spPr>
          <a:xfrm xmlns:a="http://schemas.openxmlformats.org/drawingml/2006/main">
            <a:off x="5010150" y="2571750"/>
            <a:ext cx="1733550" cy="1952625"/>
          </a:xfrm>
          <a:prstGeom xmlns:a="http://schemas.openxmlformats.org/drawingml/2006/main" prst="roundRect">
            <a:avLst>
              <a:gd name="adj" fmla="val 5495"/>
            </a:avLst>
          </a:prstGeom>
          <a:solidFill xmlns:a="http://schemas.openxmlformats.org/drawingml/2006/main">
            <a:srgbClr val="0B1A16"/>
          </a:solidFill>
          <a:ln xmlns:a="http://schemas.openxmlformats.org/drawingml/2006/main" w="9525">
            <a:solidFill>
              <a:srgbClr val="24483C"/>
            </a:solidFill>
            <a:prstDash val="solid"/>
          </a:ln>
        </p:spPr>
      </p:sp>
      <p:sp>
        <p:nvSpPr>
          <p:cNvPr id="11" name="role-3">
            <a:extLst xmlns:a="http://schemas.openxmlformats.org/drawingml/2006/main">
              <a:ext uri="{FF2B5EF4-FFF2-40B4-BE49-F238E27FC236}">
                <a16:creationId xmlns:a16="http://schemas.microsoft.com/office/drawing/2014/main" id="{1FD57B92-5A0C-4D03-AB76-060DF455ED11}"/>
              </a:ext>
            </a:extLst>
          </p:cNvPr>
          <p:cNvSpPr>
            <a:spLocks xmlns:a="http://schemas.openxmlformats.org/drawingml/2006/main" noGrp="1"/>
          </p:cNvSpPr>
          <p:nvPr/>
        </p:nvSpPr>
        <p:spPr>
          <a:xfrm xmlns:a="http://schemas.openxmlformats.org/drawingml/2006/main">
            <a:off x="7239000" y="2571750"/>
            <a:ext cx="1733550" cy="1952625"/>
          </a:xfrm>
          <a:prstGeom xmlns:a="http://schemas.openxmlformats.org/drawingml/2006/main" prst="roundRect">
            <a:avLst>
              <a:gd name="adj" fmla="val 5495"/>
            </a:avLst>
          </a:prstGeom>
          <a:solidFill xmlns:a="http://schemas.openxmlformats.org/drawingml/2006/main">
            <a:srgbClr val="0B1A16"/>
          </a:solidFill>
          <a:ln xmlns:a="http://schemas.openxmlformats.org/drawingml/2006/main" w="9525">
            <a:solidFill>
              <a:srgbClr val="24483C"/>
            </a:solidFill>
            <a:prstDash val="solid"/>
          </a:ln>
        </p:spPr>
      </p:sp>
      <p:sp>
        <p:nvSpPr>
          <p:cNvPr id="12" name="role-4">
            <a:extLst xmlns:a="http://schemas.openxmlformats.org/drawingml/2006/main">
              <a:ext uri="{FF2B5EF4-FFF2-40B4-BE49-F238E27FC236}">
                <a16:creationId xmlns:a16="http://schemas.microsoft.com/office/drawing/2014/main" id="{3DD72083-4E98-49BE-A196-8B13F150FDC2}"/>
              </a:ext>
            </a:extLst>
          </p:cNvPr>
          <p:cNvSpPr>
            <a:spLocks xmlns:a="http://schemas.openxmlformats.org/drawingml/2006/main" noGrp="1"/>
          </p:cNvSpPr>
          <p:nvPr/>
        </p:nvSpPr>
        <p:spPr>
          <a:xfrm xmlns:a="http://schemas.openxmlformats.org/drawingml/2006/main">
            <a:off x="9467850" y="2571750"/>
            <a:ext cx="1733550" cy="1952625"/>
          </a:xfrm>
          <a:prstGeom xmlns:a="http://schemas.openxmlformats.org/drawingml/2006/main" prst="roundRect">
            <a:avLst>
              <a:gd name="adj" fmla="val 5495"/>
            </a:avLst>
          </a:prstGeom>
          <a:solidFill xmlns:a="http://schemas.openxmlformats.org/drawingml/2006/main">
            <a:srgbClr val="10251F"/>
          </a:solidFill>
          <a:ln xmlns:a="http://schemas.openxmlformats.org/drawingml/2006/main" w="9525">
            <a:solidFill>
              <a:srgbClr val="7CF5B5"/>
            </a:solidFill>
            <a:prstDash val="solid"/>
          </a:ln>
        </p:spPr>
      </p:sp>
      <p:cxnSp>
        <p:nvCxnSpPr>
          <p:cNvPr id="45" name=""/>
          <p:cNvCxnSpPr>
            <a:stCxn xmlns:a="http://schemas.openxmlformats.org/drawingml/2006/main" id="8" idx="3"/>
            <a:endCxn xmlns:a="http://schemas.openxmlformats.org/drawingml/2006/main" id="9" idx="1"/>
          </p:cNvCxnSpPr>
          <p:nvPr/>
        </p:nvCxnSpPr>
        <p:spPr>
          <a:xfrm xmlns:a="http://schemas.openxmlformats.org/drawingml/2006/main">
            <a:off x="2286000" y="3548063"/>
            <a:ext cx="495300" cy="0"/>
          </a:xfrm>
          <a:prstGeom xmlns:a="http://schemas.openxmlformats.org/drawingml/2006/main" prst="straightConnector1">
            <a:avLst/>
          </a:prstGeom>
          <a:ln xmlns:a="http://schemas.openxmlformats.org/drawingml/2006/main" w="19050">
            <a:solidFill>
              <a:srgbClr val="7CF5B5"/>
            </a:solidFill>
            <a:prstDash val="solid"/>
            <a:tailEnd type="arrow" w="sm" len="sm"/>
          </a:ln>
        </p:spPr>
      </p:cxnSp>
      <p:cxnSp>
        <p:nvCxnSpPr>
          <p:cNvPr id="46" name=""/>
          <p:cNvCxnSpPr>
            <a:stCxn xmlns:a="http://schemas.openxmlformats.org/drawingml/2006/main" id="9" idx="3"/>
            <a:endCxn xmlns:a="http://schemas.openxmlformats.org/drawingml/2006/main" id="10" idx="1"/>
          </p:cNvCxnSpPr>
          <p:nvPr/>
        </p:nvCxnSpPr>
        <p:spPr>
          <a:xfrm xmlns:a="http://schemas.openxmlformats.org/drawingml/2006/main">
            <a:off x="4514850" y="3548063"/>
            <a:ext cx="495300" cy="0"/>
          </a:xfrm>
          <a:prstGeom xmlns:a="http://schemas.openxmlformats.org/drawingml/2006/main" prst="straightConnector1">
            <a:avLst/>
          </a:prstGeom>
          <a:ln xmlns:a="http://schemas.openxmlformats.org/drawingml/2006/main" w="19050">
            <a:solidFill>
              <a:srgbClr val="7CF5B5"/>
            </a:solidFill>
            <a:prstDash val="solid"/>
            <a:tailEnd type="arrow" w="sm" len="sm"/>
          </a:ln>
        </p:spPr>
      </p:cxnSp>
      <p:cxnSp>
        <p:nvCxnSpPr>
          <p:cNvPr id="47" name=""/>
          <p:cNvCxnSpPr>
            <a:stCxn xmlns:a="http://schemas.openxmlformats.org/drawingml/2006/main" id="10" idx="3"/>
            <a:endCxn xmlns:a="http://schemas.openxmlformats.org/drawingml/2006/main" id="11" idx="1"/>
          </p:cNvCxnSpPr>
          <p:nvPr/>
        </p:nvCxnSpPr>
        <p:spPr>
          <a:xfrm xmlns:a="http://schemas.openxmlformats.org/drawingml/2006/main">
            <a:off x="6743700" y="3548063"/>
            <a:ext cx="495300" cy="0"/>
          </a:xfrm>
          <a:prstGeom xmlns:a="http://schemas.openxmlformats.org/drawingml/2006/main" prst="straightConnector1">
            <a:avLst/>
          </a:prstGeom>
          <a:ln xmlns:a="http://schemas.openxmlformats.org/drawingml/2006/main" w="19050">
            <a:solidFill>
              <a:srgbClr val="7CF5B5"/>
            </a:solidFill>
            <a:prstDash val="solid"/>
            <a:tailEnd type="arrow" w="sm" len="sm"/>
          </a:ln>
        </p:spPr>
      </p:cxnSp>
      <p:cxnSp>
        <p:nvCxnSpPr>
          <p:cNvPr id="48" name=""/>
          <p:cNvCxnSpPr>
            <a:stCxn xmlns:a="http://schemas.openxmlformats.org/drawingml/2006/main" id="11" idx="3"/>
            <a:endCxn xmlns:a="http://schemas.openxmlformats.org/drawingml/2006/main" id="12" idx="1"/>
          </p:cNvCxnSpPr>
          <p:nvPr/>
        </p:nvCxnSpPr>
        <p:spPr>
          <a:xfrm xmlns:a="http://schemas.openxmlformats.org/drawingml/2006/main">
            <a:off x="8972550" y="3548063"/>
            <a:ext cx="495300" cy="0"/>
          </a:xfrm>
          <a:prstGeom xmlns:a="http://schemas.openxmlformats.org/drawingml/2006/main" prst="straightConnector1">
            <a:avLst/>
          </a:prstGeom>
          <a:ln xmlns:a="http://schemas.openxmlformats.org/drawingml/2006/main" w="19050">
            <a:solidFill>
              <a:srgbClr val="7CF5B5"/>
            </a:solidFill>
            <a:prstDash val="solid"/>
            <a:tailEnd type="arrow" w="sm" len="sm"/>
          </a:ln>
        </p:spPr>
      </p:cxnSp>
      <p:sp>
        <p:nvSpPr>
          <p:cNvPr id="17" name="role-num-0">
            <a:extLst xmlns:a="http://schemas.openxmlformats.org/drawingml/2006/main">
              <a:ext uri="{FF2B5EF4-FFF2-40B4-BE49-F238E27FC236}">
                <a16:creationId xmlns:a16="http://schemas.microsoft.com/office/drawing/2014/main" id="{B2BC38FC-6320-45DB-9D09-4A4E0602E46A}"/>
              </a:ext>
            </a:extLst>
          </p:cNvPr>
          <p:cNvSpPr>
            <a:spLocks xmlns:a="http://schemas.openxmlformats.org/drawingml/2006/main" noGrp="1"/>
          </p:cNvSpPr>
          <p:nvPr/>
        </p:nvSpPr>
        <p:spPr>
          <a:xfrm xmlns:a="http://schemas.openxmlformats.org/drawingml/2006/main">
            <a:off x="72390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01</a:t>
            </a:r>
          </a:p>
        </p:txBody>
      </p:sp>
      <p:sp>
        <p:nvSpPr>
          <p:cNvPr id="18" name="role-name-0">
            <a:extLst xmlns:a="http://schemas.openxmlformats.org/drawingml/2006/main">
              <a:ext uri="{FF2B5EF4-FFF2-40B4-BE49-F238E27FC236}">
                <a16:creationId xmlns:a16="http://schemas.microsoft.com/office/drawing/2014/main" id="{4F88D299-832A-4DDD-B1DF-96810E73F7BF}"/>
              </a:ext>
            </a:extLst>
          </p:cNvPr>
          <p:cNvSpPr>
            <a:spLocks xmlns:a="http://schemas.openxmlformats.org/drawingml/2006/main" noGrp="1"/>
          </p:cNvSpPr>
          <p:nvPr/>
        </p:nvSpPr>
        <p:spPr>
          <a:xfrm xmlns:a="http://schemas.openxmlformats.org/drawingml/2006/main">
            <a:off x="723900" y="31432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DF7F0"/>
                </a:solidFill>
              </a:defRPr>
            </a:pPr>
            <a:r>
              <a:rPr sz="1350" b="1">
                <a:solidFill>
                  <a:srgbClr val="EDF7F0"/>
                </a:solidFill>
              </a:rPr>
              <a:t>TRAJECTORY</a:t>
            </a:r>
          </a:p>
        </p:txBody>
      </p:sp>
      <p:sp>
        <p:nvSpPr>
          <p:cNvPr id="19" name="role-copy-0">
            <a:extLst xmlns:a="http://schemas.openxmlformats.org/drawingml/2006/main">
              <a:ext uri="{FF2B5EF4-FFF2-40B4-BE49-F238E27FC236}">
                <a16:creationId xmlns:a16="http://schemas.microsoft.com/office/drawing/2014/main" id="{9933A83F-CB70-401D-B581-CD689122A145}"/>
              </a:ext>
            </a:extLst>
          </p:cNvPr>
          <p:cNvSpPr>
            <a:spLocks xmlns:a="http://schemas.openxmlformats.org/drawingml/2006/main" noGrp="1"/>
          </p:cNvSpPr>
          <p:nvPr/>
        </p:nvSpPr>
        <p:spPr>
          <a:xfrm xmlns:a="http://schemas.openxmlformats.org/drawingml/2006/main">
            <a:off x="723900" y="3638550"/>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Frozen messages, memory, tools and evidence</a:t>
            </a:r>
          </a:p>
        </p:txBody>
      </p:sp>
      <p:sp>
        <p:nvSpPr>
          <p:cNvPr id="20" name="role-num-1">
            <a:extLst xmlns:a="http://schemas.openxmlformats.org/drawingml/2006/main">
              <a:ext uri="{FF2B5EF4-FFF2-40B4-BE49-F238E27FC236}">
                <a16:creationId xmlns:a16="http://schemas.microsoft.com/office/drawing/2014/main" id="{4C75EACB-BEDB-4399-A048-4D3E6652E63A}"/>
              </a:ext>
            </a:extLst>
          </p:cNvPr>
          <p:cNvSpPr>
            <a:spLocks xmlns:a="http://schemas.openxmlformats.org/drawingml/2006/main" noGrp="1"/>
          </p:cNvSpPr>
          <p:nvPr/>
        </p:nvSpPr>
        <p:spPr>
          <a:xfrm xmlns:a="http://schemas.openxmlformats.org/drawingml/2006/main">
            <a:off x="295275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02</a:t>
            </a:r>
          </a:p>
        </p:txBody>
      </p:sp>
      <p:sp>
        <p:nvSpPr>
          <p:cNvPr id="21" name="role-name-1">
            <a:extLst xmlns:a="http://schemas.openxmlformats.org/drawingml/2006/main">
              <a:ext uri="{FF2B5EF4-FFF2-40B4-BE49-F238E27FC236}">
                <a16:creationId xmlns:a16="http://schemas.microsoft.com/office/drawing/2014/main" id="{9A1575A9-E9E7-4525-B145-E95E13BB4839}"/>
              </a:ext>
            </a:extLst>
          </p:cNvPr>
          <p:cNvSpPr>
            <a:spLocks xmlns:a="http://schemas.openxmlformats.org/drawingml/2006/main" noGrp="1"/>
          </p:cNvSpPr>
          <p:nvPr/>
        </p:nvSpPr>
        <p:spPr>
          <a:xfrm xmlns:a="http://schemas.openxmlformats.org/drawingml/2006/main">
            <a:off x="2952750" y="31432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DF7F0"/>
                </a:solidFill>
              </a:defRPr>
            </a:pPr>
            <a:r>
              <a:rPr sz="1350" b="1">
                <a:solidFill>
                  <a:srgbClr val="EDF7F0"/>
                </a:solidFill>
              </a:rPr>
              <a:t>INVESTIGATOR</a:t>
            </a:r>
          </a:p>
        </p:txBody>
      </p:sp>
      <p:sp>
        <p:nvSpPr>
          <p:cNvPr id="22" name="role-copy-1">
            <a:extLst xmlns:a="http://schemas.openxmlformats.org/drawingml/2006/main">
              <a:ext uri="{FF2B5EF4-FFF2-40B4-BE49-F238E27FC236}">
                <a16:creationId xmlns:a16="http://schemas.microsoft.com/office/drawing/2014/main" id="{50C7001B-C008-45C0-A6F4-3791C3456766}"/>
              </a:ext>
            </a:extLst>
          </p:cNvPr>
          <p:cNvSpPr>
            <a:spLocks xmlns:a="http://schemas.openxmlformats.org/drawingml/2006/main" noGrp="1"/>
          </p:cNvSpPr>
          <p:nvPr/>
        </p:nvSpPr>
        <p:spPr>
          <a:xfrm xmlns:a="http://schemas.openxmlformats.org/drawingml/2006/main">
            <a:off x="2952750" y="3638550"/>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Localizes the earliest consequential failure</a:t>
            </a:r>
          </a:p>
        </p:txBody>
      </p:sp>
      <p:sp>
        <p:nvSpPr>
          <p:cNvPr id="23" name="role-num-2">
            <a:extLst xmlns:a="http://schemas.openxmlformats.org/drawingml/2006/main">
              <a:ext uri="{FF2B5EF4-FFF2-40B4-BE49-F238E27FC236}">
                <a16:creationId xmlns:a16="http://schemas.microsoft.com/office/drawing/2014/main" id="{B3A16378-8CA5-4898-B525-A2D78226B677}"/>
              </a:ext>
            </a:extLst>
          </p:cNvPr>
          <p:cNvSpPr>
            <a:spLocks xmlns:a="http://schemas.openxmlformats.org/drawingml/2006/main" noGrp="1"/>
          </p:cNvSpPr>
          <p:nvPr/>
        </p:nvSpPr>
        <p:spPr>
          <a:xfrm xmlns:a="http://schemas.openxmlformats.org/drawingml/2006/main">
            <a:off x="518160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03</a:t>
            </a:r>
          </a:p>
        </p:txBody>
      </p:sp>
      <p:sp>
        <p:nvSpPr>
          <p:cNvPr id="24" name="role-name-2">
            <a:extLst xmlns:a="http://schemas.openxmlformats.org/drawingml/2006/main">
              <a:ext uri="{FF2B5EF4-FFF2-40B4-BE49-F238E27FC236}">
                <a16:creationId xmlns:a16="http://schemas.microsoft.com/office/drawing/2014/main" id="{04B5CA74-6DB2-47F1-8579-E662F43D1EBC}"/>
              </a:ext>
            </a:extLst>
          </p:cNvPr>
          <p:cNvSpPr>
            <a:spLocks xmlns:a="http://schemas.openxmlformats.org/drawingml/2006/main" noGrp="1"/>
          </p:cNvSpPr>
          <p:nvPr/>
        </p:nvSpPr>
        <p:spPr>
          <a:xfrm xmlns:a="http://schemas.openxmlformats.org/drawingml/2006/main">
            <a:off x="5181600" y="31432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DF7F0"/>
                </a:solidFill>
              </a:defRPr>
            </a:pPr>
            <a:r>
              <a:rPr sz="1350" b="1">
                <a:solidFill>
                  <a:srgbClr val="EDF7F0"/>
                </a:solidFill>
              </a:rPr>
              <a:t>ADAPTATION</a:t>
            </a:r>
          </a:p>
        </p:txBody>
      </p:sp>
      <p:sp>
        <p:nvSpPr>
          <p:cNvPr id="25" name="role-copy-2">
            <a:extLst xmlns:a="http://schemas.openxmlformats.org/drawingml/2006/main">
              <a:ext uri="{FF2B5EF4-FFF2-40B4-BE49-F238E27FC236}">
                <a16:creationId xmlns:a16="http://schemas.microsoft.com/office/drawing/2014/main" id="{195780A9-F806-448F-8C28-4285E2F1A93B}"/>
              </a:ext>
            </a:extLst>
          </p:cNvPr>
          <p:cNvSpPr>
            <a:spLocks xmlns:a="http://schemas.openxmlformats.org/drawingml/2006/main" noGrp="1"/>
          </p:cNvSpPr>
          <p:nvPr/>
        </p:nvSpPr>
        <p:spPr>
          <a:xfrm xmlns:a="http://schemas.openxmlformats.org/drawingml/2006/main">
            <a:off x="5181600" y="3638550"/>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Proposes one allowlisted typed intervention</a:t>
            </a:r>
          </a:p>
        </p:txBody>
      </p:sp>
      <p:sp>
        <p:nvSpPr>
          <p:cNvPr id="26" name="role-num-3">
            <a:extLst xmlns:a="http://schemas.openxmlformats.org/drawingml/2006/main">
              <a:ext uri="{FF2B5EF4-FFF2-40B4-BE49-F238E27FC236}">
                <a16:creationId xmlns:a16="http://schemas.microsoft.com/office/drawing/2014/main" id="{39D1CEA6-625A-40A4-9684-D7FCFCB692D5}"/>
              </a:ext>
            </a:extLst>
          </p:cNvPr>
          <p:cNvSpPr>
            <a:spLocks xmlns:a="http://schemas.openxmlformats.org/drawingml/2006/main" noGrp="1"/>
          </p:cNvSpPr>
          <p:nvPr/>
        </p:nvSpPr>
        <p:spPr>
          <a:xfrm xmlns:a="http://schemas.openxmlformats.org/drawingml/2006/main">
            <a:off x="741045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04</a:t>
            </a:r>
          </a:p>
        </p:txBody>
      </p:sp>
      <p:sp>
        <p:nvSpPr>
          <p:cNvPr id="27" name="role-name-3">
            <a:extLst xmlns:a="http://schemas.openxmlformats.org/drawingml/2006/main">
              <a:ext uri="{FF2B5EF4-FFF2-40B4-BE49-F238E27FC236}">
                <a16:creationId xmlns:a16="http://schemas.microsoft.com/office/drawing/2014/main" id="{976A4E50-631E-4506-97BB-E5D6A7BC986B}"/>
              </a:ext>
            </a:extLst>
          </p:cNvPr>
          <p:cNvSpPr>
            <a:spLocks xmlns:a="http://schemas.openxmlformats.org/drawingml/2006/main" noGrp="1"/>
          </p:cNvSpPr>
          <p:nvPr/>
        </p:nvSpPr>
        <p:spPr>
          <a:xfrm xmlns:a="http://schemas.openxmlformats.org/drawingml/2006/main">
            <a:off x="7410450" y="31432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DF7F0"/>
                </a:solidFill>
              </a:defRPr>
            </a:pPr>
            <a:r>
              <a:rPr sz="1350" b="1">
                <a:solidFill>
                  <a:srgbClr val="EDF7F0"/>
                </a:solidFill>
              </a:rPr>
              <a:t>VERIFIER</a:t>
            </a:r>
          </a:p>
        </p:txBody>
      </p:sp>
      <p:sp>
        <p:nvSpPr>
          <p:cNvPr id="28" name="role-copy-3">
            <a:extLst xmlns:a="http://schemas.openxmlformats.org/drawingml/2006/main">
              <a:ext uri="{FF2B5EF4-FFF2-40B4-BE49-F238E27FC236}">
                <a16:creationId xmlns:a16="http://schemas.microsoft.com/office/drawing/2014/main" id="{17D0B075-6F0F-4A29-884D-4CEF60C5CB78}"/>
              </a:ext>
            </a:extLst>
          </p:cNvPr>
          <p:cNvSpPr>
            <a:spLocks xmlns:a="http://schemas.openxmlformats.org/drawingml/2006/main" noGrp="1"/>
          </p:cNvSpPr>
          <p:nvPr/>
        </p:nvSpPr>
        <p:spPr>
          <a:xfrm xmlns:a="http://schemas.openxmlformats.org/drawingml/2006/main">
            <a:off x="7410450" y="3638550"/>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Replays from frozen state and checks invariants</a:t>
            </a:r>
          </a:p>
        </p:txBody>
      </p:sp>
      <p:sp>
        <p:nvSpPr>
          <p:cNvPr id="29" name="role-num-4">
            <a:extLst xmlns:a="http://schemas.openxmlformats.org/drawingml/2006/main">
              <a:ext uri="{FF2B5EF4-FFF2-40B4-BE49-F238E27FC236}">
                <a16:creationId xmlns:a16="http://schemas.microsoft.com/office/drawing/2014/main" id="{E898208D-4A71-4688-8927-6C8E151F0F0F}"/>
              </a:ext>
            </a:extLst>
          </p:cNvPr>
          <p:cNvSpPr>
            <a:spLocks xmlns:a="http://schemas.openxmlformats.org/drawingml/2006/main" noGrp="1"/>
          </p:cNvSpPr>
          <p:nvPr/>
        </p:nvSpPr>
        <p:spPr>
          <a:xfrm xmlns:a="http://schemas.openxmlformats.org/drawingml/2006/main">
            <a:off x="9639300" y="2762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05</a:t>
            </a:r>
          </a:p>
        </p:txBody>
      </p:sp>
      <p:sp>
        <p:nvSpPr>
          <p:cNvPr id="30" name="role-name-4">
            <a:extLst xmlns:a="http://schemas.openxmlformats.org/drawingml/2006/main">
              <a:ext uri="{FF2B5EF4-FFF2-40B4-BE49-F238E27FC236}">
                <a16:creationId xmlns:a16="http://schemas.microsoft.com/office/drawing/2014/main" id="{F8D78280-81E3-4B8A-A4D5-EB9BA92EE835}"/>
              </a:ext>
            </a:extLst>
          </p:cNvPr>
          <p:cNvSpPr>
            <a:spLocks xmlns:a="http://schemas.openxmlformats.org/drawingml/2006/main" noGrp="1"/>
          </p:cNvSpPr>
          <p:nvPr/>
        </p:nvSpPr>
        <p:spPr>
          <a:xfrm xmlns:a="http://schemas.openxmlformats.org/drawingml/2006/main">
            <a:off x="9639300" y="3143250"/>
            <a:ext cx="13906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DF7F0"/>
                </a:solidFill>
              </a:defRPr>
            </a:pPr>
            <a:r>
              <a:rPr sz="1350" b="1">
                <a:solidFill>
                  <a:srgbClr val="EDF7F0"/>
                </a:solidFill>
              </a:rPr>
              <a:t>HUMAN</a:t>
            </a:r>
          </a:p>
        </p:txBody>
      </p:sp>
      <p:sp>
        <p:nvSpPr>
          <p:cNvPr id="31" name="role-copy-4">
            <a:extLst xmlns:a="http://schemas.openxmlformats.org/drawingml/2006/main">
              <a:ext uri="{FF2B5EF4-FFF2-40B4-BE49-F238E27FC236}">
                <a16:creationId xmlns:a16="http://schemas.microsoft.com/office/drawing/2014/main" id="{E4454E66-4018-450B-89E7-0B8A4641B7C1}"/>
              </a:ext>
            </a:extLst>
          </p:cNvPr>
          <p:cNvSpPr>
            <a:spLocks xmlns:a="http://schemas.openxmlformats.org/drawingml/2006/main" noGrp="1"/>
          </p:cNvSpPr>
          <p:nvPr/>
        </p:nvSpPr>
        <p:spPr>
          <a:xfrm xmlns:a="http://schemas.openxmlformats.org/drawingml/2006/main">
            <a:off x="9639300" y="3638550"/>
            <a:ext cx="13906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Approves replay and separately activates policy</a:t>
            </a:r>
          </a:p>
        </p:txBody>
      </p:sp>
      <p:sp>
        <p:nvSpPr>
          <p:cNvPr id="32" name="authority">
            <a:extLst xmlns:a="http://schemas.openxmlformats.org/drawingml/2006/main">
              <a:ext uri="{FF2B5EF4-FFF2-40B4-BE49-F238E27FC236}">
                <a16:creationId xmlns:a16="http://schemas.microsoft.com/office/drawing/2014/main" id="{1876E348-9A29-4C29-AC6C-32C0A9114658}"/>
              </a:ext>
            </a:extLst>
          </p:cNvPr>
          <p:cNvSpPr>
            <a:spLocks xmlns:a="http://schemas.openxmlformats.org/drawingml/2006/main" noGrp="1"/>
          </p:cNvSpPr>
          <p:nvPr/>
        </p:nvSpPr>
        <p:spPr>
          <a:xfrm xmlns:a="http://schemas.openxmlformats.org/drawingml/2006/main">
            <a:off x="1143000" y="5048250"/>
            <a:ext cx="9906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950" b="1">
                <a:solidFill>
                  <a:srgbClr val="FFC66D"/>
                </a:solidFill>
              </a:defRPr>
            </a:pPr>
            <a:r>
              <a:rPr sz="1950" b="1">
                <a:solidFill>
                  <a:srgbClr val="FFC66D"/>
                </a:solidFill>
              </a:rPr>
              <a:t>The agents cannot execute tools, grade their own replay, approve themselves, or activate policy.</a:t>
            </a:r>
          </a:p>
        </p:txBody>
      </p:sp>
    </p:spTree>
    <p:extLst>
      <p:ext uri="{BB962C8B-B14F-4D97-AF65-F5344CB8AC3E}">
        <p14:creationId xmlns:p14="http://schemas.microsoft.com/office/powerpoint/2010/main" val="111211768"/>
      </p:ext>
    </p:extLst>
  </p:cSld>
</p:sld>
</file>

<file path=ppt/slides/slide4.xml><?xml version="1.0" encoding="utf-8"?>
<p:sld xmlns:p="http://schemas.openxmlformats.org/presentationml/2006/main">
  <p:cSld>
    <p:bg>
      <p:bgPr>
        <a:solidFill xmlns:a="http://schemas.openxmlformats.org/drawingml/2006/main">
          <a:srgbClr val="07110F"/>
        </a:solidFill>
      </p:bgPr>
    </p:bg>
    <p:spTree>
      <p:nvGrpSpPr>
        <p:cNvPr id="1" name=""/>
        <p:cNvGrpSpPr/>
        <p:nvPr/>
      </p:nvGrpSpPr>
      <p:grpSpPr>
        <a:xfrm xmlns:a="http://schemas.openxmlformats.org/drawingml/2006/main"/>
      </p:grpSpPr>
      <p:sp>
        <p:nvSpPr>
          <p:cNvPr id="1" name="accent-4">
            <a:extLst xmlns:a="http://schemas.openxmlformats.org/drawingml/2006/main">
              <a:ext uri="{FF2B5EF4-FFF2-40B4-BE49-F238E27FC236}">
                <a16:creationId xmlns:a16="http://schemas.microsoft.com/office/drawing/2014/main" id="{B86EB0EA-50FB-4BA1-9D8C-0F7419FD1A3C}"/>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2" name="section-4">
            <a:extLst xmlns:a="http://schemas.openxmlformats.org/drawingml/2006/main">
              <a:ext uri="{FF2B5EF4-FFF2-40B4-BE49-F238E27FC236}">
                <a16:creationId xmlns:a16="http://schemas.microsoft.com/office/drawing/2014/main" id="{C79394C3-D668-47A6-A46F-26D09F7ED3D5}"/>
              </a:ext>
            </a:extLst>
          </p:cNvPr>
          <p:cNvSpPr>
            <a:spLocks xmlns:a="http://schemas.openxmlformats.org/drawingml/2006/main" noGrp="1"/>
          </p:cNvSpPr>
          <p:nvPr/>
        </p:nvSpPr>
        <p:spPr>
          <a:xfrm xmlns:a="http://schemas.openxmlformats.org/drawingml/2006/main">
            <a:off x="552450" y="333375"/>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REALISTIC END-TO-END EXECUTION</a:t>
            </a:r>
          </a:p>
        </p:txBody>
      </p:sp>
      <p:sp>
        <p:nvSpPr>
          <p:cNvPr id="3" name="brand-4">
            <a:extLst xmlns:a="http://schemas.openxmlformats.org/drawingml/2006/main">
              <a:ext uri="{FF2B5EF4-FFF2-40B4-BE49-F238E27FC236}">
                <a16:creationId xmlns:a16="http://schemas.microsoft.com/office/drawing/2014/main" id="{451E8DF9-E4CE-41F2-9332-DCAD4E7113A7}"/>
              </a:ext>
            </a:extLst>
          </p:cNvPr>
          <p:cNvSpPr>
            <a:spLocks xmlns:a="http://schemas.openxmlformats.org/drawingml/2006/main" noGrp="1"/>
          </p:cNvSpPr>
          <p:nvPr/>
        </p:nvSpPr>
        <p:spPr>
          <a:xfrm xmlns:a="http://schemas.openxmlformats.org/drawingml/2006/main">
            <a:off x="9953625" y="333375"/>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BB0A5"/>
                </a:solidFill>
              </a:defRPr>
            </a:pPr>
            <a:r>
              <a:rPr sz="975" b="1">
                <a:solidFill>
                  <a:srgbClr val="9BB0A5"/>
                </a:solidFill>
              </a:rPr>
              <a:t>SUPERTURIYA</a:t>
            </a:r>
          </a:p>
        </p:txBody>
      </p:sp>
      <p:sp>
        <p:nvSpPr>
          <p:cNvPr id="4" name="">
            <a:extLst xmlns:a="http://schemas.openxmlformats.org/drawingml/2006/main">
              <a:ext uri="{FF2B5EF4-FFF2-40B4-BE49-F238E27FC236}">
                <a16:creationId xmlns:a16="http://schemas.microsoft.com/office/drawing/2014/main" id="{2F679947-8273-40ED-84FF-C9E38B9172F6}"/>
              </a:ext>
            </a:extLst>
          </p:cNvPr>
          <p:cNvSpPr>
            <a:spLocks xmlns:a="http://schemas.openxmlformats.org/drawingml/2006/main" noGrp="1"/>
          </p:cNvSpPr>
          <p:nvPr/>
        </p:nvSpPr>
        <p:spPr>
          <a:xfrm xmlns:a="http://schemas.openxmlformats.org/drawingml/2006/main">
            <a:off x="552450" y="6429375"/>
            <a:ext cx="10972800"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5" name="footer-4">
            <a:extLst xmlns:a="http://schemas.openxmlformats.org/drawingml/2006/main">
              <a:ext uri="{FF2B5EF4-FFF2-40B4-BE49-F238E27FC236}">
                <a16:creationId xmlns:a16="http://schemas.microsoft.com/office/drawing/2014/main" id="{DAB1FC16-C775-4362-9F3D-30F9482DB34C}"/>
              </a:ext>
            </a:extLst>
          </p:cNvPr>
          <p:cNvSpPr>
            <a:spLocks xmlns:a="http://schemas.openxmlformats.org/drawingml/2006/main" noGrp="1"/>
          </p:cNvSpPr>
          <p:nvPr/>
        </p:nvSpPr>
        <p:spPr>
          <a:xfrm xmlns:a="http://schemas.openxmlformats.org/drawingml/2006/main">
            <a:off x="552450" y="65341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60766B"/>
                </a:solidFill>
              </a:defRPr>
            </a:pPr>
            <a:r>
              <a:rPr sz="750" b="0">
                <a:solidFill>
                  <a:srgbClr val="60766B"/>
                </a:solidFill>
              </a:rPr>
              <a:t>micro1 Agentic Workflows Hackathon · submission deck</a:t>
            </a:r>
          </a:p>
        </p:txBody>
      </p:sp>
      <p:sp>
        <p:nvSpPr>
          <p:cNvPr id="6" name="page-4">
            <a:extLst xmlns:a="http://schemas.openxmlformats.org/drawingml/2006/main">
              <a:ext uri="{FF2B5EF4-FFF2-40B4-BE49-F238E27FC236}">
                <a16:creationId xmlns:a16="http://schemas.microsoft.com/office/drawing/2014/main" id="{05EA1E5F-E937-45F7-8766-8FB29C917791}"/>
              </a:ext>
            </a:extLst>
          </p:cNvPr>
          <p:cNvSpPr>
            <a:spLocks xmlns:a="http://schemas.openxmlformats.org/drawingml/2006/main" noGrp="1"/>
          </p:cNvSpPr>
          <p:nvPr/>
        </p:nvSpPr>
        <p:spPr>
          <a:xfrm xmlns:a="http://schemas.openxmlformats.org/drawingml/2006/main">
            <a:off x="1104900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66B"/>
                </a:solidFill>
              </a:defRPr>
            </a:pPr>
            <a:r>
              <a:rPr sz="825" b="1">
                <a:solidFill>
                  <a:srgbClr val="60766B"/>
                </a:solidFill>
              </a:rPr>
              <a:t>04</a:t>
            </a:r>
          </a:p>
        </p:txBody>
      </p:sp>
      <p:sp>
        <p:nvSpPr>
          <p:cNvPr id="7" name="slide-title">
            <a:extLst xmlns:a="http://schemas.openxmlformats.org/drawingml/2006/main">
              <a:ext uri="{FF2B5EF4-FFF2-40B4-BE49-F238E27FC236}">
                <a16:creationId xmlns:a16="http://schemas.microsoft.com/office/drawing/2014/main" id="{18C31CFC-5B3F-49A1-911C-49C060C1919E}"/>
              </a:ext>
            </a:extLst>
          </p:cNvPr>
          <p:cNvSpPr>
            <a:spLocks xmlns:a="http://schemas.openxmlformats.org/drawingml/2006/main" noGrp="1"/>
          </p:cNvSpPr>
          <p:nvPr/>
        </p:nvSpPr>
        <p:spPr>
          <a:xfrm xmlns:a="http://schemas.openxmlformats.org/drawingml/2006/main">
            <a:off x="552450" y="838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EDF7F0"/>
                </a:solidFill>
              </a:defRPr>
            </a:pPr>
            <a:r>
              <a:rPr sz="3600" b="1">
                <a:solidFill>
                  <a:srgbClr val="EDF7F0"/>
                </a:solidFill>
              </a:rPr>
              <a:t>One invalid argument becomes a verified procedural repair.</a:t>
            </a:r>
          </a:p>
        </p:txBody>
      </p:sp>
      <p:sp>
        <p:nvSpPr>
          <p:cNvPr id="8" name="case">
            <a:extLst xmlns:a="http://schemas.openxmlformats.org/drawingml/2006/main">
              <a:ext uri="{FF2B5EF4-FFF2-40B4-BE49-F238E27FC236}">
                <a16:creationId xmlns:a16="http://schemas.microsoft.com/office/drawing/2014/main" id="{DB608F27-4353-448A-B1C8-ED5EF96313BF}"/>
              </a:ext>
            </a:extLst>
          </p:cNvPr>
          <p:cNvSpPr>
            <a:spLocks xmlns:a="http://schemas.openxmlformats.org/drawingml/2006/main" noGrp="1"/>
          </p:cNvSpPr>
          <p:nvPr/>
        </p:nvSpPr>
        <p:spPr>
          <a:xfrm xmlns:a="http://schemas.openxmlformats.org/drawingml/2006/main">
            <a:off x="552450" y="1952625"/>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C66D"/>
                </a:solidFill>
              </a:defRPr>
            </a:pPr>
            <a:r>
              <a:rPr sz="975" b="1">
                <a:solidFill>
                  <a:srgbClr val="FFC66D"/>
                </a:solidFill>
              </a:rPr>
              <a:t>CASE eval-006</a:t>
            </a:r>
          </a:p>
        </p:txBody>
      </p:sp>
      <p:sp>
        <p:nvSpPr>
          <p:cNvPr id="9" name="request">
            <a:extLst xmlns:a="http://schemas.openxmlformats.org/drawingml/2006/main">
              <a:ext uri="{FF2B5EF4-FFF2-40B4-BE49-F238E27FC236}">
                <a16:creationId xmlns:a16="http://schemas.microsoft.com/office/drawing/2014/main" id="{09D46FA1-3AC5-4A05-B925-97790BB4BD41}"/>
              </a:ext>
            </a:extLst>
          </p:cNvPr>
          <p:cNvSpPr>
            <a:spLocks xmlns:a="http://schemas.openxmlformats.org/drawingml/2006/main" noGrp="1"/>
          </p:cNvSpPr>
          <p:nvPr/>
        </p:nvSpPr>
        <p:spPr>
          <a:xfrm xmlns:a="http://schemas.openxmlformats.org/drawingml/2006/main">
            <a:off x="552450" y="2305050"/>
            <a:ext cx="4191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EDF7F0"/>
                </a:solidFill>
              </a:defRPr>
            </a:pPr>
            <a:r>
              <a:rPr sz="1800" b="1">
                <a:solidFill>
                  <a:srgbClr val="EDF7F0"/>
                </a:solidFill>
              </a:rPr>
              <a:t>User requested quantity 2</a:t>
            </a:r>
          </a:p>
        </p:txBody>
      </p:sp>
      <p:sp>
        <p:nvSpPr>
          <p:cNvPr id="10" name="bad">
            <a:extLst xmlns:a="http://schemas.openxmlformats.org/drawingml/2006/main">
              <a:ext uri="{FF2B5EF4-FFF2-40B4-BE49-F238E27FC236}">
                <a16:creationId xmlns:a16="http://schemas.microsoft.com/office/drawing/2014/main" id="{25CD316C-D21C-4E9C-AA70-236DEA02AA64}"/>
              </a:ext>
            </a:extLst>
          </p:cNvPr>
          <p:cNvSpPr>
            <a:spLocks xmlns:a="http://schemas.openxmlformats.org/drawingml/2006/main" noGrp="1"/>
          </p:cNvSpPr>
          <p:nvPr/>
        </p:nvSpPr>
        <p:spPr>
          <a:xfrm xmlns:a="http://schemas.openxmlformats.org/drawingml/2006/main">
            <a:off x="552450" y="2857500"/>
            <a:ext cx="4095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400" b="1">
                <a:solidFill>
                  <a:srgbClr val="FF8A7A"/>
                </a:solidFill>
              </a:defRPr>
            </a:pPr>
            <a:r>
              <a:rPr sz="2400" b="1">
                <a:solidFill>
                  <a:srgbClr val="FF8A7A"/>
                </a:solidFill>
              </a:rPr>
              <a:t>fulfill.quantity = -2</a:t>
            </a:r>
          </a:p>
        </p:txBody>
      </p:sp>
      <p:sp>
        <p:nvSpPr>
          <p:cNvPr id="11" name="critical">
            <a:extLst xmlns:a="http://schemas.openxmlformats.org/drawingml/2006/main">
              <a:ext uri="{FF2B5EF4-FFF2-40B4-BE49-F238E27FC236}">
                <a16:creationId xmlns:a16="http://schemas.microsoft.com/office/drawing/2014/main" id="{EEC9625E-819C-4767-946D-6183CA81153F}"/>
              </a:ext>
            </a:extLst>
          </p:cNvPr>
          <p:cNvSpPr>
            <a:spLocks xmlns:a="http://schemas.openxmlformats.org/drawingml/2006/main" noGrp="1"/>
          </p:cNvSpPr>
          <p:nvPr/>
        </p:nvSpPr>
        <p:spPr>
          <a:xfrm xmlns:a="http://schemas.openxmlformats.org/drawingml/2006/main">
            <a:off x="552450" y="3552825"/>
            <a:ext cx="45720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0">
                <a:solidFill>
                  <a:srgbClr val="9BB0A5"/>
                </a:solidFill>
              </a:defRPr>
            </a:pPr>
            <a:r>
              <a:rPr sz="1350" b="0">
                <a:solidFill>
                  <a:srgbClr val="9BB0A5"/>
                </a:solidFill>
              </a:rPr>
              <a:t>Critical step: eval-006-s3</a:t>
            </a:r>
          </a:p>
          <a:p xmlns:a="http://schemas.openxmlformats.org/drawingml/2006/main">
            <a:pPr algn="l">
              <a:defRPr sz="1350" b="0">
                <a:solidFill>
                  <a:srgbClr val="9BB0A5"/>
                </a:solidFill>
              </a:defRPr>
            </a:pPr>
            <a:r>
              <a:rPr sz="1350" b="0">
                <a:solidFill>
                  <a:srgbClr val="9BB0A5"/>
                </a:solidFill>
              </a:rPr>
              <a:t>Invariant: quantity_is_positive_integer</a:t>
            </a:r>
          </a:p>
        </p:txBody>
      </p:sp>
      <p:sp>
        <p:nvSpPr>
          <p:cNvPr id="12" name="before">
            <a:extLst xmlns:a="http://schemas.openxmlformats.org/drawingml/2006/main">
              <a:ext uri="{FF2B5EF4-FFF2-40B4-BE49-F238E27FC236}">
                <a16:creationId xmlns:a16="http://schemas.microsoft.com/office/drawing/2014/main" id="{11B24D38-3FDC-49C0-868A-129991900CCE}"/>
              </a:ext>
            </a:extLst>
          </p:cNvPr>
          <p:cNvSpPr>
            <a:spLocks xmlns:a="http://schemas.openxmlformats.org/drawingml/2006/main" noGrp="1"/>
          </p:cNvSpPr>
          <p:nvPr/>
        </p:nvSpPr>
        <p:spPr>
          <a:xfrm xmlns:a="http://schemas.openxmlformats.org/drawingml/2006/main">
            <a:off x="5810250" y="2076450"/>
            <a:ext cx="2190750" cy="1714500"/>
          </a:xfrm>
          <a:prstGeom xmlns:a="http://schemas.openxmlformats.org/drawingml/2006/main" prst="roundRect">
            <a:avLst>
              <a:gd name="adj" fmla="val 5556"/>
            </a:avLst>
          </a:prstGeom>
          <a:solidFill xmlns:a="http://schemas.openxmlformats.org/drawingml/2006/main">
            <a:srgbClr val="0B1A16"/>
          </a:solidFill>
          <a:ln xmlns:a="http://schemas.openxmlformats.org/drawingml/2006/main" w="9525">
            <a:solidFill>
              <a:srgbClr val="FF8A7A"/>
            </a:solidFill>
            <a:prstDash val="solid"/>
          </a:ln>
        </p:spPr>
      </p:sp>
      <p:sp>
        <p:nvSpPr>
          <p:cNvPr id="13" name="after">
            <a:extLst xmlns:a="http://schemas.openxmlformats.org/drawingml/2006/main">
              <a:ext uri="{FF2B5EF4-FFF2-40B4-BE49-F238E27FC236}">
                <a16:creationId xmlns:a16="http://schemas.microsoft.com/office/drawing/2014/main" id="{207C85D2-21F6-4B14-B1D8-88F7D62B83DB}"/>
              </a:ext>
            </a:extLst>
          </p:cNvPr>
          <p:cNvSpPr>
            <a:spLocks xmlns:a="http://schemas.openxmlformats.org/drawingml/2006/main" noGrp="1"/>
          </p:cNvSpPr>
          <p:nvPr/>
        </p:nvSpPr>
        <p:spPr>
          <a:xfrm xmlns:a="http://schemas.openxmlformats.org/drawingml/2006/main">
            <a:off x="8953500" y="2076450"/>
            <a:ext cx="2190750" cy="1714500"/>
          </a:xfrm>
          <a:prstGeom xmlns:a="http://schemas.openxmlformats.org/drawingml/2006/main" prst="roundRect">
            <a:avLst>
              <a:gd name="adj" fmla="val 5556"/>
            </a:avLst>
          </a:prstGeom>
          <a:solidFill xmlns:a="http://schemas.openxmlformats.org/drawingml/2006/main">
            <a:srgbClr val="10251F"/>
          </a:solidFill>
          <a:ln xmlns:a="http://schemas.openxmlformats.org/drawingml/2006/main" w="9525">
            <a:solidFill>
              <a:srgbClr val="7CF5B5"/>
            </a:solidFill>
            <a:prstDash val="solid"/>
          </a:ln>
        </p:spPr>
      </p:sp>
      <p:cxnSp>
        <p:nvCxnSpPr>
          <p:cNvPr id="34" name=""/>
          <p:cNvCxnSpPr>
            <a:stCxn xmlns:a="http://schemas.openxmlformats.org/drawingml/2006/main" id="12" idx="3"/>
            <a:endCxn xmlns:a="http://schemas.openxmlformats.org/drawingml/2006/main" id="13" idx="1"/>
          </p:cNvCxnSpPr>
          <p:nvPr/>
        </p:nvCxnSpPr>
        <p:spPr>
          <a:xfrm xmlns:a="http://schemas.openxmlformats.org/drawingml/2006/main">
            <a:off x="8001000" y="2933700"/>
            <a:ext cx="952500" cy="0"/>
          </a:xfrm>
          <a:prstGeom xmlns:a="http://schemas.openxmlformats.org/drawingml/2006/main" prst="straightConnector1">
            <a:avLst/>
          </a:prstGeom>
          <a:ln xmlns:a="http://schemas.openxmlformats.org/drawingml/2006/main" w="28575">
            <a:solidFill>
              <a:srgbClr val="7CF5B5"/>
            </a:solidFill>
            <a:prstDash val="solid"/>
            <a:tailEnd type="arrow" w="med" len="med"/>
          </a:ln>
        </p:spPr>
      </p:cxnSp>
      <p:sp>
        <p:nvSpPr>
          <p:cNvPr id="15" name="before-label">
            <a:extLst xmlns:a="http://schemas.openxmlformats.org/drawingml/2006/main">
              <a:ext uri="{FF2B5EF4-FFF2-40B4-BE49-F238E27FC236}">
                <a16:creationId xmlns:a16="http://schemas.microsoft.com/office/drawing/2014/main" id="{51378D51-AB6F-47E7-B872-7F91772877D1}"/>
              </a:ext>
            </a:extLst>
          </p:cNvPr>
          <p:cNvSpPr>
            <a:spLocks xmlns:a="http://schemas.openxmlformats.org/drawingml/2006/main" noGrp="1"/>
          </p:cNvSpPr>
          <p:nvPr/>
        </p:nvSpPr>
        <p:spPr>
          <a:xfrm xmlns:a="http://schemas.openxmlformats.org/drawingml/2006/main">
            <a:off x="6000750" y="23050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FF8A7A"/>
                </a:solidFill>
              </a:defRPr>
            </a:pPr>
            <a:r>
              <a:rPr sz="900" b="1">
                <a:solidFill>
                  <a:srgbClr val="FF8A7A"/>
                </a:solidFill>
              </a:rPr>
              <a:t>BEFORE</a:t>
            </a:r>
          </a:p>
        </p:txBody>
      </p:sp>
      <p:sp>
        <p:nvSpPr>
          <p:cNvPr id="16" name="before-value">
            <a:extLst xmlns:a="http://schemas.openxmlformats.org/drawingml/2006/main">
              <a:ext uri="{FF2B5EF4-FFF2-40B4-BE49-F238E27FC236}">
                <a16:creationId xmlns:a16="http://schemas.microsoft.com/office/drawing/2014/main" id="{C17BC0D7-DF01-403C-B019-654A491CDD0B}"/>
              </a:ext>
            </a:extLst>
          </p:cNvPr>
          <p:cNvSpPr>
            <a:spLocks xmlns:a="http://schemas.openxmlformats.org/drawingml/2006/main" noGrp="1"/>
          </p:cNvSpPr>
          <p:nvPr/>
        </p:nvSpPr>
        <p:spPr>
          <a:xfrm xmlns:a="http://schemas.openxmlformats.org/drawingml/2006/main">
            <a:off x="6000750" y="2724150"/>
            <a:ext cx="180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EDF7F0"/>
                </a:solidFill>
              </a:defRPr>
            </a:pPr>
            <a:r>
              <a:rPr sz="2025" b="1">
                <a:solidFill>
                  <a:srgbClr val="EDF7F0"/>
                </a:solidFill>
              </a:rPr>
              <a:t>Failed</a:t>
            </a:r>
          </a:p>
          <a:p xmlns:a="http://schemas.openxmlformats.org/drawingml/2006/main">
            <a:pPr algn="l">
              <a:defRPr sz="2025" b="1">
                <a:solidFill>
                  <a:srgbClr val="EDF7F0"/>
                </a:solidFill>
              </a:defRPr>
            </a:pPr>
            <a:r>
              <a:rPr sz="2025" b="1">
                <a:solidFill>
                  <a:srgbClr val="EDF7F0"/>
                </a:solidFill>
              </a:rPr>
              <a:t>2 invariants</a:t>
            </a:r>
          </a:p>
        </p:txBody>
      </p:sp>
      <p:sp>
        <p:nvSpPr>
          <p:cNvPr id="17" name="after-label">
            <a:extLst xmlns:a="http://schemas.openxmlformats.org/drawingml/2006/main">
              <a:ext uri="{FF2B5EF4-FFF2-40B4-BE49-F238E27FC236}">
                <a16:creationId xmlns:a16="http://schemas.microsoft.com/office/drawing/2014/main" id="{D531789F-83F2-4B5D-8D8A-DB2FB9E46171}"/>
              </a:ext>
            </a:extLst>
          </p:cNvPr>
          <p:cNvSpPr>
            <a:spLocks xmlns:a="http://schemas.openxmlformats.org/drawingml/2006/main" noGrp="1"/>
          </p:cNvSpPr>
          <p:nvPr/>
        </p:nvSpPr>
        <p:spPr>
          <a:xfrm xmlns:a="http://schemas.openxmlformats.org/drawingml/2006/main">
            <a:off x="9144000" y="2305050"/>
            <a:ext cx="1809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CF5B5"/>
                </a:solidFill>
              </a:defRPr>
            </a:pPr>
            <a:r>
              <a:rPr sz="900" b="1">
                <a:solidFill>
                  <a:srgbClr val="7CF5B5"/>
                </a:solidFill>
              </a:rPr>
              <a:t>AFTER REPLAY</a:t>
            </a:r>
          </a:p>
        </p:txBody>
      </p:sp>
      <p:sp>
        <p:nvSpPr>
          <p:cNvPr id="18" name="after-value">
            <a:extLst xmlns:a="http://schemas.openxmlformats.org/drawingml/2006/main">
              <a:ext uri="{FF2B5EF4-FFF2-40B4-BE49-F238E27FC236}">
                <a16:creationId xmlns:a16="http://schemas.microsoft.com/office/drawing/2014/main" id="{E1DBCA8B-EEB6-4913-9837-780DF7B8AF0A}"/>
              </a:ext>
            </a:extLst>
          </p:cNvPr>
          <p:cNvSpPr>
            <a:spLocks xmlns:a="http://schemas.openxmlformats.org/drawingml/2006/main" noGrp="1"/>
          </p:cNvSpPr>
          <p:nvPr/>
        </p:nvSpPr>
        <p:spPr>
          <a:xfrm xmlns:a="http://schemas.openxmlformats.org/drawingml/2006/main">
            <a:off x="9144000" y="2724150"/>
            <a:ext cx="1809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EDF7F0"/>
                </a:solidFill>
              </a:defRPr>
            </a:pPr>
            <a:r>
              <a:rPr sz="2025" b="1">
                <a:solidFill>
                  <a:srgbClr val="EDF7F0"/>
                </a:solidFill>
              </a:rPr>
              <a:t>Verified</a:t>
            </a:r>
          </a:p>
          <a:p xmlns:a="http://schemas.openxmlformats.org/drawingml/2006/main">
            <a:pPr algn="l">
              <a:defRPr sz="2025" b="1">
                <a:solidFill>
                  <a:srgbClr val="EDF7F0"/>
                </a:solidFill>
              </a:defRPr>
            </a:pPr>
            <a:r>
              <a:rPr sz="2025" b="1">
                <a:solidFill>
                  <a:srgbClr val="EDF7F0"/>
                </a:solidFill>
              </a:rPr>
              <a:t>7 / 7 pass</a:t>
            </a:r>
          </a:p>
        </p:txBody>
      </p:sp>
      <p:sp>
        <p:nvSpPr>
          <p:cNvPr id="19" name="repair">
            <a:extLst xmlns:a="http://schemas.openxmlformats.org/drawingml/2006/main">
              <a:ext uri="{FF2B5EF4-FFF2-40B4-BE49-F238E27FC236}">
                <a16:creationId xmlns:a16="http://schemas.microsoft.com/office/drawing/2014/main" id="{908B8C3B-BA4A-4C91-9446-0BD5E223A1D0}"/>
              </a:ext>
            </a:extLst>
          </p:cNvPr>
          <p:cNvSpPr>
            <a:spLocks xmlns:a="http://schemas.openxmlformats.org/drawingml/2006/main" noGrp="1"/>
          </p:cNvSpPr>
          <p:nvPr/>
        </p:nvSpPr>
        <p:spPr>
          <a:xfrm xmlns:a="http://schemas.openxmlformats.org/drawingml/2006/main">
            <a:off x="5810250" y="4267200"/>
            <a:ext cx="5334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7CF5B5"/>
                </a:solidFill>
              </a:defRPr>
            </a:pPr>
            <a:r>
              <a:rPr sz="1200" b="1">
                <a:solidFill>
                  <a:srgbClr val="7CF5B5"/>
                </a:solidFill>
              </a:rPr>
              <a:t>Typed repair  ·  tool_argument.constraint  ·  target fulfill.quantity</a:t>
            </a:r>
          </a:p>
        </p:txBody>
      </p:sp>
      <p:sp>
        <p:nvSpPr>
          <p:cNvPr id="20" name="gates">
            <a:extLst xmlns:a="http://schemas.openxmlformats.org/drawingml/2006/main">
              <a:ext uri="{FF2B5EF4-FFF2-40B4-BE49-F238E27FC236}">
                <a16:creationId xmlns:a16="http://schemas.microsoft.com/office/drawing/2014/main" id="{00DA54F8-D49E-4AF8-8C01-383ED51EF464}"/>
              </a:ext>
            </a:extLst>
          </p:cNvPr>
          <p:cNvSpPr>
            <a:spLocks xmlns:a="http://schemas.openxmlformats.org/drawingml/2006/main" noGrp="1"/>
          </p:cNvSpPr>
          <p:nvPr/>
        </p:nvSpPr>
        <p:spPr>
          <a:xfrm xmlns:a="http://schemas.openxmlformats.org/drawingml/2006/main">
            <a:off x="552450" y="5143500"/>
            <a:ext cx="1057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725" b="1">
                <a:solidFill>
                  <a:srgbClr val="EDF7F0"/>
                </a:solidFill>
              </a:defRPr>
            </a:pPr>
            <a:r>
              <a:rPr sz="1725" b="1">
                <a:solidFill>
                  <a:srgbClr val="EDF7F0"/>
                </a:solidFill>
              </a:rPr>
              <a:t>Candidate → human approval → frozen replay → verifier pass → separate human activation</a:t>
            </a:r>
          </a:p>
        </p:txBody>
      </p:sp>
    </p:spTree>
    <p:extLst>
      <p:ext uri="{BB962C8B-B14F-4D97-AF65-F5344CB8AC3E}">
        <p14:creationId xmlns:p14="http://schemas.microsoft.com/office/powerpoint/2010/main" val="28443143"/>
      </p:ext>
    </p:extLst>
  </p:cSld>
</p:sld>
</file>

<file path=ppt/slides/slide5.xml><?xml version="1.0" encoding="utf-8"?>
<p:sld xmlns:p="http://schemas.openxmlformats.org/presentationml/2006/main">
  <p:cSld>
    <p:bg>
      <p:bgPr>
        <a:solidFill xmlns:a="http://schemas.openxmlformats.org/drawingml/2006/main">
          <a:srgbClr val="07110F"/>
        </a:solidFill>
      </p:bgPr>
    </p:bg>
    <p:spTree>
      <p:nvGrpSpPr>
        <p:cNvPr id="1" name=""/>
        <p:cNvGrpSpPr/>
        <p:nvPr/>
      </p:nvGrpSpPr>
      <p:grpSpPr>
        <a:xfrm xmlns:a="http://schemas.openxmlformats.org/drawingml/2006/main"/>
      </p:grpSpPr>
      <p:sp>
        <p:nvSpPr>
          <p:cNvPr id="1" name="accent-5">
            <a:extLst xmlns:a="http://schemas.openxmlformats.org/drawingml/2006/main">
              <a:ext uri="{FF2B5EF4-FFF2-40B4-BE49-F238E27FC236}">
                <a16:creationId xmlns:a16="http://schemas.microsoft.com/office/drawing/2014/main" id="{E4789A97-3086-48E5-862E-5857760C1A4D}"/>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2" name="section-5">
            <a:extLst xmlns:a="http://schemas.openxmlformats.org/drawingml/2006/main">
              <a:ext uri="{FF2B5EF4-FFF2-40B4-BE49-F238E27FC236}">
                <a16:creationId xmlns:a16="http://schemas.microsoft.com/office/drawing/2014/main" id="{8E5DEDD4-DDE4-45C0-924A-9733DDF6FD08}"/>
              </a:ext>
            </a:extLst>
          </p:cNvPr>
          <p:cNvSpPr>
            <a:spLocks xmlns:a="http://schemas.openxmlformats.org/drawingml/2006/main" noGrp="1"/>
          </p:cNvSpPr>
          <p:nvPr/>
        </p:nvSpPr>
        <p:spPr>
          <a:xfrm xmlns:a="http://schemas.openxmlformats.org/drawingml/2006/main">
            <a:off x="552450" y="333375"/>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SAFETY AND DIFFICULT CASE</a:t>
            </a:r>
          </a:p>
        </p:txBody>
      </p:sp>
      <p:sp>
        <p:nvSpPr>
          <p:cNvPr id="3" name="brand-5">
            <a:extLst xmlns:a="http://schemas.openxmlformats.org/drawingml/2006/main">
              <a:ext uri="{FF2B5EF4-FFF2-40B4-BE49-F238E27FC236}">
                <a16:creationId xmlns:a16="http://schemas.microsoft.com/office/drawing/2014/main" id="{8B838ECF-6767-48C9-88B8-EBE92328C623}"/>
              </a:ext>
            </a:extLst>
          </p:cNvPr>
          <p:cNvSpPr>
            <a:spLocks xmlns:a="http://schemas.openxmlformats.org/drawingml/2006/main" noGrp="1"/>
          </p:cNvSpPr>
          <p:nvPr/>
        </p:nvSpPr>
        <p:spPr>
          <a:xfrm xmlns:a="http://schemas.openxmlformats.org/drawingml/2006/main">
            <a:off x="9953625" y="333375"/>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BB0A5"/>
                </a:solidFill>
              </a:defRPr>
            </a:pPr>
            <a:r>
              <a:rPr sz="975" b="1">
                <a:solidFill>
                  <a:srgbClr val="9BB0A5"/>
                </a:solidFill>
              </a:rPr>
              <a:t>SUPERTURIYA</a:t>
            </a:r>
          </a:p>
        </p:txBody>
      </p:sp>
      <p:sp>
        <p:nvSpPr>
          <p:cNvPr id="4" name="">
            <a:extLst xmlns:a="http://schemas.openxmlformats.org/drawingml/2006/main">
              <a:ext uri="{FF2B5EF4-FFF2-40B4-BE49-F238E27FC236}">
                <a16:creationId xmlns:a16="http://schemas.microsoft.com/office/drawing/2014/main" id="{E2B1F228-4651-4A9F-9C8C-DA1632F10183}"/>
              </a:ext>
            </a:extLst>
          </p:cNvPr>
          <p:cNvSpPr>
            <a:spLocks xmlns:a="http://schemas.openxmlformats.org/drawingml/2006/main" noGrp="1"/>
          </p:cNvSpPr>
          <p:nvPr/>
        </p:nvSpPr>
        <p:spPr>
          <a:xfrm xmlns:a="http://schemas.openxmlformats.org/drawingml/2006/main">
            <a:off x="552450" y="6429375"/>
            <a:ext cx="10972800"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5" name="footer-5">
            <a:extLst xmlns:a="http://schemas.openxmlformats.org/drawingml/2006/main">
              <a:ext uri="{FF2B5EF4-FFF2-40B4-BE49-F238E27FC236}">
                <a16:creationId xmlns:a16="http://schemas.microsoft.com/office/drawing/2014/main" id="{3C3F4782-01B5-495F-B3E3-F441761DF5BC}"/>
              </a:ext>
            </a:extLst>
          </p:cNvPr>
          <p:cNvSpPr>
            <a:spLocks xmlns:a="http://schemas.openxmlformats.org/drawingml/2006/main" noGrp="1"/>
          </p:cNvSpPr>
          <p:nvPr/>
        </p:nvSpPr>
        <p:spPr>
          <a:xfrm xmlns:a="http://schemas.openxmlformats.org/drawingml/2006/main">
            <a:off x="552450" y="65341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60766B"/>
                </a:solidFill>
              </a:defRPr>
            </a:pPr>
            <a:r>
              <a:rPr sz="750" b="0">
                <a:solidFill>
                  <a:srgbClr val="60766B"/>
                </a:solidFill>
              </a:rPr>
              <a:t>micro1 Agentic Workflows Hackathon · submission deck</a:t>
            </a:r>
          </a:p>
        </p:txBody>
      </p:sp>
      <p:sp>
        <p:nvSpPr>
          <p:cNvPr id="6" name="page-5">
            <a:extLst xmlns:a="http://schemas.openxmlformats.org/drawingml/2006/main">
              <a:ext uri="{FF2B5EF4-FFF2-40B4-BE49-F238E27FC236}">
                <a16:creationId xmlns:a16="http://schemas.microsoft.com/office/drawing/2014/main" id="{2435247C-BD00-44DD-98E6-2841C91EACD6}"/>
              </a:ext>
            </a:extLst>
          </p:cNvPr>
          <p:cNvSpPr>
            <a:spLocks xmlns:a="http://schemas.openxmlformats.org/drawingml/2006/main" noGrp="1"/>
          </p:cNvSpPr>
          <p:nvPr/>
        </p:nvSpPr>
        <p:spPr>
          <a:xfrm xmlns:a="http://schemas.openxmlformats.org/drawingml/2006/main">
            <a:off x="1104900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66B"/>
                </a:solidFill>
              </a:defRPr>
            </a:pPr>
            <a:r>
              <a:rPr sz="825" b="1">
                <a:solidFill>
                  <a:srgbClr val="60766B"/>
                </a:solidFill>
              </a:rPr>
              <a:t>05</a:t>
            </a:r>
          </a:p>
        </p:txBody>
      </p:sp>
      <p:sp>
        <p:nvSpPr>
          <p:cNvPr id="7" name="slide-title">
            <a:extLst xmlns:a="http://schemas.openxmlformats.org/drawingml/2006/main">
              <a:ext uri="{FF2B5EF4-FFF2-40B4-BE49-F238E27FC236}">
                <a16:creationId xmlns:a16="http://schemas.microsoft.com/office/drawing/2014/main" id="{280641DA-5C6F-4F41-8733-41C372740C32}"/>
              </a:ext>
            </a:extLst>
          </p:cNvPr>
          <p:cNvSpPr>
            <a:spLocks xmlns:a="http://schemas.openxmlformats.org/drawingml/2006/main" noGrp="1"/>
          </p:cNvSpPr>
          <p:nvPr/>
        </p:nvSpPr>
        <p:spPr>
          <a:xfrm xmlns:a="http://schemas.openxmlformats.org/drawingml/2006/main">
            <a:off x="552450" y="838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EDF7F0"/>
                </a:solidFill>
              </a:defRPr>
            </a:pPr>
            <a:r>
              <a:rPr sz="3600" b="1">
                <a:solidFill>
                  <a:srgbClr val="EDF7F0"/>
                </a:solidFill>
              </a:rPr>
              <a:t>A confident repair still fails when one invariant remains unresolved.</a:t>
            </a:r>
          </a:p>
        </p:txBody>
      </p:sp>
      <p:sp>
        <p:nvSpPr>
          <p:cNvPr id="8" name="hard-case">
            <a:extLst xmlns:a="http://schemas.openxmlformats.org/drawingml/2006/main">
              <a:ext uri="{FF2B5EF4-FFF2-40B4-BE49-F238E27FC236}">
                <a16:creationId xmlns:a16="http://schemas.microsoft.com/office/drawing/2014/main" id="{276D3D47-47FC-4337-A0F7-38CA9D0131D4}"/>
              </a:ext>
            </a:extLst>
          </p:cNvPr>
          <p:cNvSpPr>
            <a:spLocks xmlns:a="http://schemas.openxmlformats.org/drawingml/2006/main" noGrp="1"/>
          </p:cNvSpPr>
          <p:nvPr/>
        </p:nvSpPr>
        <p:spPr>
          <a:xfrm xmlns:a="http://schemas.openxmlformats.org/drawingml/2006/main">
            <a:off x="552450" y="2000250"/>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C66D"/>
                </a:solidFill>
              </a:defRPr>
            </a:pPr>
            <a:r>
              <a:rPr sz="975" b="1">
                <a:solidFill>
                  <a:srgbClr val="FFC66D"/>
                </a:solidFill>
              </a:rPr>
              <a:t>DIFFICULT CASE eval-012</a:t>
            </a:r>
          </a:p>
        </p:txBody>
      </p:sp>
      <p:sp>
        <p:nvSpPr>
          <p:cNvPr id="9" name="cause-a">
            <a:extLst xmlns:a="http://schemas.openxmlformats.org/drawingml/2006/main">
              <a:ext uri="{FF2B5EF4-FFF2-40B4-BE49-F238E27FC236}">
                <a16:creationId xmlns:a16="http://schemas.microsoft.com/office/drawing/2014/main" id="{1319BDDD-4FD4-4CA8-A1B6-BEEFB95E87D0}"/>
              </a:ext>
            </a:extLst>
          </p:cNvPr>
          <p:cNvSpPr>
            <a:spLocks xmlns:a="http://schemas.openxmlformats.org/drawingml/2006/main" noGrp="1"/>
          </p:cNvSpPr>
          <p:nvPr/>
        </p:nvSpPr>
        <p:spPr>
          <a:xfrm xmlns:a="http://schemas.openxmlformats.org/drawingml/2006/main">
            <a:off x="552450" y="251460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7CF5B5"/>
                </a:solidFill>
              </a:defRPr>
            </a:pPr>
            <a:r>
              <a:rPr sz="1125" b="1">
                <a:solidFill>
                  <a:srgbClr val="7CF5B5"/>
                </a:solidFill>
              </a:rPr>
              <a:t>Cause 1</a:t>
            </a:r>
          </a:p>
        </p:txBody>
      </p:sp>
      <p:sp>
        <p:nvSpPr>
          <p:cNvPr id="10" name="cause-a-copy">
            <a:extLst xmlns:a="http://schemas.openxmlformats.org/drawingml/2006/main">
              <a:ext uri="{FF2B5EF4-FFF2-40B4-BE49-F238E27FC236}">
                <a16:creationId xmlns:a16="http://schemas.microsoft.com/office/drawing/2014/main" id="{65553555-87B4-4D02-BCB8-4DFCD7B1E220}"/>
              </a:ext>
            </a:extLst>
          </p:cNvPr>
          <p:cNvSpPr>
            <a:spLocks xmlns:a="http://schemas.openxmlformats.org/drawingml/2006/main" noGrp="1"/>
          </p:cNvSpPr>
          <p:nvPr/>
        </p:nvSpPr>
        <p:spPr>
          <a:xfrm xmlns:a="http://schemas.openxmlformats.org/drawingml/2006/main">
            <a:off x="552450" y="2857500"/>
            <a:ext cx="428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EDF7F0"/>
                </a:solidFill>
              </a:defRPr>
            </a:pPr>
            <a:r>
              <a:rPr sz="1800" b="1">
                <a:solidFill>
                  <a:srgbClr val="EDF7F0"/>
                </a:solidFill>
              </a:rPr>
              <a:t>Fulfilment ran before catalog lookup.</a:t>
            </a:r>
          </a:p>
        </p:txBody>
      </p:sp>
      <p:sp>
        <p:nvSpPr>
          <p:cNvPr id="11" name="cause-b">
            <a:extLst xmlns:a="http://schemas.openxmlformats.org/drawingml/2006/main">
              <a:ext uri="{FF2B5EF4-FFF2-40B4-BE49-F238E27FC236}">
                <a16:creationId xmlns:a16="http://schemas.microsoft.com/office/drawing/2014/main" id="{ECD5AC17-EBA3-4653-9BBF-248EB4E0B529}"/>
              </a:ext>
            </a:extLst>
          </p:cNvPr>
          <p:cNvSpPr>
            <a:spLocks xmlns:a="http://schemas.openxmlformats.org/drawingml/2006/main" noGrp="1"/>
          </p:cNvSpPr>
          <p:nvPr/>
        </p:nvSpPr>
        <p:spPr>
          <a:xfrm xmlns:a="http://schemas.openxmlformats.org/drawingml/2006/main">
            <a:off x="552450" y="3714750"/>
            <a:ext cx="1238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FF8A7A"/>
                </a:solidFill>
              </a:defRPr>
            </a:pPr>
            <a:r>
              <a:rPr sz="1125" b="1">
                <a:solidFill>
                  <a:srgbClr val="FF8A7A"/>
                </a:solidFill>
              </a:rPr>
              <a:t>Cause 2</a:t>
            </a:r>
          </a:p>
        </p:txBody>
      </p:sp>
      <p:sp>
        <p:nvSpPr>
          <p:cNvPr id="12" name="cause-b-copy">
            <a:extLst xmlns:a="http://schemas.openxmlformats.org/drawingml/2006/main">
              <a:ext uri="{FF2B5EF4-FFF2-40B4-BE49-F238E27FC236}">
                <a16:creationId xmlns:a16="http://schemas.microsoft.com/office/drawing/2014/main" id="{C914B16B-DECB-4D76-80A8-3F50FFF0CD53}"/>
              </a:ext>
            </a:extLst>
          </p:cNvPr>
          <p:cNvSpPr>
            <a:spLocks xmlns:a="http://schemas.openxmlformats.org/drawingml/2006/main" noGrp="1"/>
          </p:cNvSpPr>
          <p:nvPr/>
        </p:nvSpPr>
        <p:spPr>
          <a:xfrm xmlns:a="http://schemas.openxmlformats.org/drawingml/2006/main">
            <a:off x="552450" y="4057650"/>
            <a:ext cx="4476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EDF7F0"/>
                </a:solidFill>
              </a:defRPr>
            </a:pPr>
            <a:r>
              <a:rPr sz="1800" b="1">
                <a:solidFill>
                  <a:srgbClr val="EDF7F0"/>
                </a:solidFill>
              </a:rPr>
              <a:t>The terminal action still omitted catalog evidence.</a:t>
            </a:r>
          </a:p>
        </p:txBody>
      </p:sp>
      <p:sp>
        <p:nvSpPr>
          <p:cNvPr id="13" name="reject-panel">
            <a:extLst xmlns:a="http://schemas.openxmlformats.org/drawingml/2006/main">
              <a:ext uri="{FF2B5EF4-FFF2-40B4-BE49-F238E27FC236}">
                <a16:creationId xmlns:a16="http://schemas.microsoft.com/office/drawing/2014/main" id="{15218E13-062D-4FE4-8C89-0FD387E72904}"/>
              </a:ext>
            </a:extLst>
          </p:cNvPr>
          <p:cNvSpPr>
            <a:spLocks xmlns:a="http://schemas.openxmlformats.org/drawingml/2006/main" noGrp="1"/>
          </p:cNvSpPr>
          <p:nvPr/>
        </p:nvSpPr>
        <p:spPr>
          <a:xfrm xmlns:a="http://schemas.openxmlformats.org/drawingml/2006/main">
            <a:off x="6286500" y="2238375"/>
            <a:ext cx="4762500" cy="2571750"/>
          </a:xfrm>
          <a:prstGeom xmlns:a="http://schemas.openxmlformats.org/drawingml/2006/main" prst="roundRect">
            <a:avLst>
              <a:gd name="adj" fmla="val 4444"/>
            </a:avLst>
          </a:prstGeom>
          <a:solidFill xmlns:a="http://schemas.openxmlformats.org/drawingml/2006/main">
            <a:srgbClr val="0B1A16"/>
          </a:solidFill>
          <a:ln xmlns:a="http://schemas.openxmlformats.org/drawingml/2006/main" w="9525">
            <a:solidFill>
              <a:srgbClr val="FF8A7A"/>
            </a:solidFill>
            <a:prstDash val="solid"/>
          </a:ln>
        </p:spPr>
      </p:sp>
      <p:sp>
        <p:nvSpPr>
          <p:cNvPr id="14" name="repair-fix">
            <a:extLst xmlns:a="http://schemas.openxmlformats.org/drawingml/2006/main">
              <a:ext uri="{FF2B5EF4-FFF2-40B4-BE49-F238E27FC236}">
                <a16:creationId xmlns:a16="http://schemas.microsoft.com/office/drawing/2014/main" id="{4E8FFDAE-AC65-4166-B453-A82CECB95DC9}"/>
              </a:ext>
            </a:extLst>
          </p:cNvPr>
          <p:cNvSpPr>
            <a:spLocks xmlns:a="http://schemas.openxmlformats.org/drawingml/2006/main" noGrp="1"/>
          </p:cNvSpPr>
          <p:nvPr/>
        </p:nvSpPr>
        <p:spPr>
          <a:xfrm xmlns:a="http://schemas.openxmlformats.org/drawingml/2006/main">
            <a:off x="6667500" y="2619375"/>
            <a:ext cx="400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425" b="1">
                <a:solidFill>
                  <a:srgbClr val="7CF5B5"/>
                </a:solidFill>
              </a:defRPr>
            </a:pPr>
            <a:r>
              <a:rPr sz="1425" b="1">
                <a:solidFill>
                  <a:srgbClr val="7CF5B5"/>
                </a:solidFill>
              </a:rPr>
              <a:t>Ordering repair fixed</a:t>
            </a:r>
          </a:p>
        </p:txBody>
      </p:sp>
      <p:sp>
        <p:nvSpPr>
          <p:cNvPr id="15" name="repair-miss">
            <a:extLst xmlns:a="http://schemas.openxmlformats.org/drawingml/2006/main">
              <a:ext uri="{FF2B5EF4-FFF2-40B4-BE49-F238E27FC236}">
                <a16:creationId xmlns:a16="http://schemas.microsoft.com/office/drawing/2014/main" id="{49201EEE-2323-4D14-A74E-3B3401E0A5E0}"/>
              </a:ext>
            </a:extLst>
          </p:cNvPr>
          <p:cNvSpPr>
            <a:spLocks xmlns:a="http://schemas.openxmlformats.org/drawingml/2006/main" noGrp="1"/>
          </p:cNvSpPr>
          <p:nvPr/>
        </p:nvSpPr>
        <p:spPr>
          <a:xfrm xmlns:a="http://schemas.openxmlformats.org/drawingml/2006/main">
            <a:off x="6667500" y="3143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F8A7A"/>
                </a:solidFill>
              </a:defRPr>
            </a:pPr>
            <a:r>
              <a:rPr sz="2025" b="1">
                <a:solidFill>
                  <a:srgbClr val="FF8A7A"/>
                </a:solidFill>
              </a:rPr>
              <a:t>Evidence invariant still failed</a:t>
            </a:r>
          </a:p>
        </p:txBody>
      </p:sp>
      <p:sp>
        <p:nvSpPr>
          <p:cNvPr id="16" name="">
            <a:extLst xmlns:a="http://schemas.openxmlformats.org/drawingml/2006/main">
              <a:ext uri="{FF2B5EF4-FFF2-40B4-BE49-F238E27FC236}">
                <a16:creationId xmlns:a16="http://schemas.microsoft.com/office/drawing/2014/main" id="{7517A72A-794C-4F35-8A81-4B0178220F71}"/>
              </a:ext>
            </a:extLst>
          </p:cNvPr>
          <p:cNvSpPr>
            <a:spLocks xmlns:a="http://schemas.openxmlformats.org/drawingml/2006/main" noGrp="1"/>
          </p:cNvSpPr>
          <p:nvPr/>
        </p:nvSpPr>
        <p:spPr>
          <a:xfrm xmlns:a="http://schemas.openxmlformats.org/drawingml/2006/main">
            <a:off x="6667500" y="3714750"/>
            <a:ext cx="4000500"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17" name="reject-result">
            <a:extLst xmlns:a="http://schemas.openxmlformats.org/drawingml/2006/main">
              <a:ext uri="{FF2B5EF4-FFF2-40B4-BE49-F238E27FC236}">
                <a16:creationId xmlns:a16="http://schemas.microsoft.com/office/drawing/2014/main" id="{E27F58A8-44DA-462B-96BB-4E1EA598A92A}"/>
              </a:ext>
            </a:extLst>
          </p:cNvPr>
          <p:cNvSpPr>
            <a:spLocks xmlns:a="http://schemas.openxmlformats.org/drawingml/2006/main" noGrp="1"/>
          </p:cNvSpPr>
          <p:nvPr/>
        </p:nvSpPr>
        <p:spPr>
          <a:xfrm xmlns:a="http://schemas.openxmlformats.org/drawingml/2006/main">
            <a:off x="6667500" y="3962400"/>
            <a:ext cx="4000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EDF7F0"/>
                </a:solidFill>
              </a:defRPr>
            </a:pPr>
            <a:r>
              <a:rPr sz="1800" b="1">
                <a:solidFill>
                  <a:srgbClr val="EDF7F0"/>
                </a:solidFill>
              </a:rPr>
              <a:t>REPLAY REJECTED</a:t>
            </a:r>
          </a:p>
          <a:p xmlns:a="http://schemas.openxmlformats.org/drawingml/2006/main">
            <a:pPr algn="l">
              <a:defRPr sz="1800" b="1">
                <a:solidFill>
                  <a:srgbClr val="EDF7F0"/>
                </a:solidFill>
              </a:defRPr>
            </a:pPr>
            <a:r>
              <a:rPr sz="1800" b="1">
                <a:solidFill>
                  <a:srgbClr val="EDF7F0"/>
                </a:solidFill>
              </a:rPr>
              <a:t>NO POLICY ACTIVATION</a:t>
            </a:r>
          </a:p>
        </p:txBody>
      </p:sp>
      <p:sp>
        <p:nvSpPr>
          <p:cNvPr id="18" name="lesson">
            <a:extLst xmlns:a="http://schemas.openxmlformats.org/drawingml/2006/main">
              <a:ext uri="{FF2B5EF4-FFF2-40B4-BE49-F238E27FC236}">
                <a16:creationId xmlns:a16="http://schemas.microsoft.com/office/drawing/2014/main" id="{24636B70-6262-4F04-9C62-F8BA88815E3E}"/>
              </a:ext>
            </a:extLst>
          </p:cNvPr>
          <p:cNvSpPr>
            <a:spLocks xmlns:a="http://schemas.openxmlformats.org/drawingml/2006/main" noGrp="1"/>
          </p:cNvSpPr>
          <p:nvPr/>
        </p:nvSpPr>
        <p:spPr>
          <a:xfrm xmlns:a="http://schemas.openxmlformats.org/drawingml/2006/main">
            <a:off x="552450" y="5257800"/>
            <a:ext cx="10477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FFC66D"/>
                </a:solidFill>
              </a:defRPr>
            </a:pPr>
            <a:r>
              <a:rPr sz="2250" b="1">
                <a:solidFill>
                  <a:srgbClr val="FFC66D"/>
                </a:solidFill>
              </a:rPr>
              <a:t>Agent confidence cannot overrule replay evidence.</a:t>
            </a:r>
          </a:p>
        </p:txBody>
      </p:sp>
    </p:spTree>
    <p:extLst>
      <p:ext uri="{BB962C8B-B14F-4D97-AF65-F5344CB8AC3E}">
        <p14:creationId xmlns:p14="http://schemas.microsoft.com/office/powerpoint/2010/main" val="1253391770"/>
      </p:ext>
    </p:extLst>
  </p:cSld>
</p:sld>
</file>

<file path=ppt/slides/slide6.xml><?xml version="1.0" encoding="utf-8"?>
<p:sld xmlns:p="http://schemas.openxmlformats.org/presentationml/2006/main">
  <p:cSld>
    <p:bg>
      <p:bgPr>
        <a:solidFill xmlns:a="http://schemas.openxmlformats.org/drawingml/2006/main">
          <a:srgbClr val="07110F"/>
        </a:solidFill>
      </p:bgPr>
    </p:bg>
    <p:spTree>
      <p:nvGrpSpPr>
        <p:cNvPr id="1" name=""/>
        <p:cNvGrpSpPr/>
        <p:nvPr/>
      </p:nvGrpSpPr>
      <p:grpSpPr>
        <a:xfrm xmlns:a="http://schemas.openxmlformats.org/drawingml/2006/main"/>
      </p:grpSpPr>
      <p:sp>
        <p:nvSpPr>
          <p:cNvPr id="1" name="accent-6">
            <a:extLst xmlns:a="http://schemas.openxmlformats.org/drawingml/2006/main">
              <a:ext uri="{FF2B5EF4-FFF2-40B4-BE49-F238E27FC236}">
                <a16:creationId xmlns:a16="http://schemas.microsoft.com/office/drawing/2014/main" id="{E0A63D15-6543-4E3F-9117-4BA5083849E2}"/>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2" name="section-6">
            <a:extLst xmlns:a="http://schemas.openxmlformats.org/drawingml/2006/main">
              <a:ext uri="{FF2B5EF4-FFF2-40B4-BE49-F238E27FC236}">
                <a16:creationId xmlns:a16="http://schemas.microsoft.com/office/drawing/2014/main" id="{7282EB7A-0C45-474A-93C5-76D20A88B128}"/>
              </a:ext>
            </a:extLst>
          </p:cNvPr>
          <p:cNvSpPr>
            <a:spLocks xmlns:a="http://schemas.openxmlformats.org/drawingml/2006/main" noGrp="1"/>
          </p:cNvSpPr>
          <p:nvPr/>
        </p:nvSpPr>
        <p:spPr>
          <a:xfrm xmlns:a="http://schemas.openxmlformats.org/drawingml/2006/main">
            <a:off x="552450" y="333375"/>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IMPROVEMENT CHANGELOG</a:t>
            </a:r>
          </a:p>
        </p:txBody>
      </p:sp>
      <p:sp>
        <p:nvSpPr>
          <p:cNvPr id="3" name="brand-6">
            <a:extLst xmlns:a="http://schemas.openxmlformats.org/drawingml/2006/main">
              <a:ext uri="{FF2B5EF4-FFF2-40B4-BE49-F238E27FC236}">
                <a16:creationId xmlns:a16="http://schemas.microsoft.com/office/drawing/2014/main" id="{0FF5102D-987F-4441-8C09-674F342F9F23}"/>
              </a:ext>
            </a:extLst>
          </p:cNvPr>
          <p:cNvSpPr>
            <a:spLocks xmlns:a="http://schemas.openxmlformats.org/drawingml/2006/main" noGrp="1"/>
          </p:cNvSpPr>
          <p:nvPr/>
        </p:nvSpPr>
        <p:spPr>
          <a:xfrm xmlns:a="http://schemas.openxmlformats.org/drawingml/2006/main">
            <a:off x="9953625" y="333375"/>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BB0A5"/>
                </a:solidFill>
              </a:defRPr>
            </a:pPr>
            <a:r>
              <a:rPr sz="975" b="1">
                <a:solidFill>
                  <a:srgbClr val="9BB0A5"/>
                </a:solidFill>
              </a:rPr>
              <a:t>SUPERTURIYA</a:t>
            </a:r>
          </a:p>
        </p:txBody>
      </p:sp>
      <p:sp>
        <p:nvSpPr>
          <p:cNvPr id="4" name="">
            <a:extLst xmlns:a="http://schemas.openxmlformats.org/drawingml/2006/main">
              <a:ext uri="{FF2B5EF4-FFF2-40B4-BE49-F238E27FC236}">
                <a16:creationId xmlns:a16="http://schemas.microsoft.com/office/drawing/2014/main" id="{5185CF53-73B3-46CA-9096-803171BFF2F7}"/>
              </a:ext>
            </a:extLst>
          </p:cNvPr>
          <p:cNvSpPr>
            <a:spLocks xmlns:a="http://schemas.openxmlformats.org/drawingml/2006/main" noGrp="1"/>
          </p:cNvSpPr>
          <p:nvPr/>
        </p:nvSpPr>
        <p:spPr>
          <a:xfrm xmlns:a="http://schemas.openxmlformats.org/drawingml/2006/main">
            <a:off x="552450" y="6429375"/>
            <a:ext cx="10972800"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5" name="footer-6">
            <a:extLst xmlns:a="http://schemas.openxmlformats.org/drawingml/2006/main">
              <a:ext uri="{FF2B5EF4-FFF2-40B4-BE49-F238E27FC236}">
                <a16:creationId xmlns:a16="http://schemas.microsoft.com/office/drawing/2014/main" id="{1FB3AECE-FC7A-4B8F-86E8-CA6BBEF12739}"/>
              </a:ext>
            </a:extLst>
          </p:cNvPr>
          <p:cNvSpPr>
            <a:spLocks xmlns:a="http://schemas.openxmlformats.org/drawingml/2006/main" noGrp="1"/>
          </p:cNvSpPr>
          <p:nvPr/>
        </p:nvSpPr>
        <p:spPr>
          <a:xfrm xmlns:a="http://schemas.openxmlformats.org/drawingml/2006/main">
            <a:off x="552450" y="65341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60766B"/>
                </a:solidFill>
              </a:defRPr>
            </a:pPr>
            <a:r>
              <a:rPr sz="750" b="0">
                <a:solidFill>
                  <a:srgbClr val="60766B"/>
                </a:solidFill>
              </a:rPr>
              <a:t>micro1 Agentic Workflows Hackathon · submission deck</a:t>
            </a:r>
          </a:p>
        </p:txBody>
      </p:sp>
      <p:sp>
        <p:nvSpPr>
          <p:cNvPr id="6" name="page-6">
            <a:extLst xmlns:a="http://schemas.openxmlformats.org/drawingml/2006/main">
              <a:ext uri="{FF2B5EF4-FFF2-40B4-BE49-F238E27FC236}">
                <a16:creationId xmlns:a16="http://schemas.microsoft.com/office/drawing/2014/main" id="{CF2037D6-E8B3-4DA9-ABB2-9AFDF7BD8F77}"/>
              </a:ext>
            </a:extLst>
          </p:cNvPr>
          <p:cNvSpPr>
            <a:spLocks xmlns:a="http://schemas.openxmlformats.org/drawingml/2006/main" noGrp="1"/>
          </p:cNvSpPr>
          <p:nvPr/>
        </p:nvSpPr>
        <p:spPr>
          <a:xfrm xmlns:a="http://schemas.openxmlformats.org/drawingml/2006/main">
            <a:off x="1104900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66B"/>
                </a:solidFill>
              </a:defRPr>
            </a:pPr>
            <a:r>
              <a:rPr sz="825" b="1">
                <a:solidFill>
                  <a:srgbClr val="60766B"/>
                </a:solidFill>
              </a:rPr>
              <a:t>06</a:t>
            </a:r>
          </a:p>
        </p:txBody>
      </p:sp>
      <p:sp>
        <p:nvSpPr>
          <p:cNvPr id="7" name="slide-title">
            <a:extLst xmlns:a="http://schemas.openxmlformats.org/drawingml/2006/main">
              <a:ext uri="{FF2B5EF4-FFF2-40B4-BE49-F238E27FC236}">
                <a16:creationId xmlns:a16="http://schemas.microsoft.com/office/drawing/2014/main" id="{9BEAFE5B-E810-4537-ADA7-252D5699AF61}"/>
              </a:ext>
            </a:extLst>
          </p:cNvPr>
          <p:cNvSpPr>
            <a:spLocks xmlns:a="http://schemas.openxmlformats.org/drawingml/2006/main" noGrp="1"/>
          </p:cNvSpPr>
          <p:nvPr/>
        </p:nvSpPr>
        <p:spPr>
          <a:xfrm xmlns:a="http://schemas.openxmlformats.org/drawingml/2006/main">
            <a:off x="552450" y="838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EDF7F0"/>
                </a:solidFill>
              </a:defRPr>
            </a:pPr>
            <a:r>
              <a:rPr sz="3600" b="1">
                <a:solidFill>
                  <a:srgbClr val="EDF7F0"/>
                </a:solidFill>
              </a:rPr>
              <a:t>The decisive change was separating proposal from authority.</a:t>
            </a:r>
          </a:p>
        </p:txBody>
      </p:sp>
      <p:sp>
        <p:nvSpPr>
          <p:cNvPr id="8" name="stage-0">
            <a:extLst xmlns:a="http://schemas.openxmlformats.org/drawingml/2006/main">
              <a:ext uri="{FF2B5EF4-FFF2-40B4-BE49-F238E27FC236}">
                <a16:creationId xmlns:a16="http://schemas.microsoft.com/office/drawing/2014/main" id="{02A8264D-71C8-4539-B1FE-B05528B7C02D}"/>
              </a:ext>
            </a:extLst>
          </p:cNvPr>
          <p:cNvSpPr>
            <a:spLocks xmlns:a="http://schemas.openxmlformats.org/drawingml/2006/main" noGrp="1"/>
          </p:cNvSpPr>
          <p:nvPr/>
        </p:nvSpPr>
        <p:spPr>
          <a:xfrm xmlns:a="http://schemas.openxmlformats.org/drawingml/2006/main">
            <a:off x="552450" y="21526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60766B"/>
                </a:solidFill>
              </a:defRPr>
            </a:pPr>
            <a:r>
              <a:rPr sz="975" b="1">
                <a:solidFill>
                  <a:srgbClr val="60766B"/>
                </a:solidFill>
              </a:rPr>
              <a:t>BASELINE</a:t>
            </a:r>
          </a:p>
        </p:txBody>
      </p:sp>
      <p:sp>
        <p:nvSpPr>
          <p:cNvPr id="9" name="change-0">
            <a:extLst xmlns:a="http://schemas.openxmlformats.org/drawingml/2006/main">
              <a:ext uri="{FF2B5EF4-FFF2-40B4-BE49-F238E27FC236}">
                <a16:creationId xmlns:a16="http://schemas.microsoft.com/office/drawing/2014/main" id="{D0DA7314-9572-4231-9D53-759E9CFFB03C}"/>
              </a:ext>
            </a:extLst>
          </p:cNvPr>
          <p:cNvSpPr>
            <a:spLocks xmlns:a="http://schemas.openxmlformats.org/drawingml/2006/main" noGrp="1"/>
          </p:cNvSpPr>
          <p:nvPr/>
        </p:nvSpPr>
        <p:spPr>
          <a:xfrm xmlns:a="http://schemas.openxmlformats.org/drawingml/2006/main">
            <a:off x="2476500" y="2124075"/>
            <a:ext cx="6429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DF7F0"/>
                </a:solidFill>
              </a:defRPr>
            </a:pPr>
            <a:r>
              <a:rPr sz="1500" b="0">
                <a:solidFill>
                  <a:srgbClr val="EDF7F0"/>
                </a:solidFill>
              </a:rPr>
              <a:t>Direct repair from raw trajectory</a:t>
            </a:r>
          </a:p>
        </p:txBody>
      </p:sp>
      <p:sp>
        <p:nvSpPr>
          <p:cNvPr id="10" name="result-0">
            <a:extLst xmlns:a="http://schemas.openxmlformats.org/drawingml/2006/main">
              <a:ext uri="{FF2B5EF4-FFF2-40B4-BE49-F238E27FC236}">
                <a16:creationId xmlns:a16="http://schemas.microsoft.com/office/drawing/2014/main" id="{5A470A29-DF9C-4C13-8ECF-1B95BAB352CF}"/>
              </a:ext>
            </a:extLst>
          </p:cNvPr>
          <p:cNvSpPr>
            <a:spLocks xmlns:a="http://schemas.openxmlformats.org/drawingml/2006/main" noGrp="1"/>
          </p:cNvSpPr>
          <p:nvPr/>
        </p:nvSpPr>
        <p:spPr>
          <a:xfrm xmlns:a="http://schemas.openxmlformats.org/drawingml/2006/main">
            <a:off x="9334500" y="21336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60766B"/>
                </a:solidFill>
              </a:defRPr>
            </a:pPr>
            <a:r>
              <a:rPr sz="1350" b="1">
                <a:solidFill>
                  <a:srgbClr val="60766B"/>
                </a:solidFill>
              </a:rPr>
              <a:t>3 / 12 recovered</a:t>
            </a:r>
          </a:p>
        </p:txBody>
      </p:sp>
      <p:sp>
        <p:nvSpPr>
          <p:cNvPr id="11" name="">
            <a:extLst xmlns:a="http://schemas.openxmlformats.org/drawingml/2006/main">
              <a:ext uri="{FF2B5EF4-FFF2-40B4-BE49-F238E27FC236}">
                <a16:creationId xmlns:a16="http://schemas.microsoft.com/office/drawing/2014/main" id="{22307875-FF38-417A-B18E-10C3BBAC2816}"/>
              </a:ext>
            </a:extLst>
          </p:cNvPr>
          <p:cNvSpPr>
            <a:spLocks xmlns:a="http://schemas.openxmlformats.org/drawingml/2006/main" noGrp="1"/>
          </p:cNvSpPr>
          <p:nvPr/>
        </p:nvSpPr>
        <p:spPr>
          <a:xfrm xmlns:a="http://schemas.openxmlformats.org/drawingml/2006/main">
            <a:off x="552450" y="2676525"/>
            <a:ext cx="10715625"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12" name="stage-1">
            <a:extLst xmlns:a="http://schemas.openxmlformats.org/drawingml/2006/main">
              <a:ext uri="{FF2B5EF4-FFF2-40B4-BE49-F238E27FC236}">
                <a16:creationId xmlns:a16="http://schemas.microsoft.com/office/drawing/2014/main" id="{BDABE262-D36F-46FB-9C97-9D11421D4278}"/>
              </a:ext>
            </a:extLst>
          </p:cNvPr>
          <p:cNvSpPr>
            <a:spLocks xmlns:a="http://schemas.openxmlformats.org/drawingml/2006/main" noGrp="1"/>
          </p:cNvSpPr>
          <p:nvPr/>
        </p:nvSpPr>
        <p:spPr>
          <a:xfrm xmlns:a="http://schemas.openxmlformats.org/drawingml/2006/main">
            <a:off x="552450" y="29527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DIAGNOSE</a:t>
            </a:r>
          </a:p>
        </p:txBody>
      </p:sp>
      <p:sp>
        <p:nvSpPr>
          <p:cNvPr id="13" name="change-1">
            <a:extLst xmlns:a="http://schemas.openxmlformats.org/drawingml/2006/main">
              <a:ext uri="{FF2B5EF4-FFF2-40B4-BE49-F238E27FC236}">
                <a16:creationId xmlns:a16="http://schemas.microsoft.com/office/drawing/2014/main" id="{CC6726DD-DABC-447B-AD19-041F0B35B0C2}"/>
              </a:ext>
            </a:extLst>
          </p:cNvPr>
          <p:cNvSpPr>
            <a:spLocks xmlns:a="http://schemas.openxmlformats.org/drawingml/2006/main" noGrp="1"/>
          </p:cNvSpPr>
          <p:nvPr/>
        </p:nvSpPr>
        <p:spPr>
          <a:xfrm xmlns:a="http://schemas.openxmlformats.org/drawingml/2006/main">
            <a:off x="2476500" y="2924175"/>
            <a:ext cx="6429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DF7F0"/>
                </a:solidFill>
              </a:defRPr>
            </a:pPr>
            <a:r>
              <a:rPr sz="1500" b="0">
                <a:solidFill>
                  <a:srgbClr val="EDF7F0"/>
                </a:solidFill>
              </a:rPr>
              <a:t>Structured evidence and critical-step localization</a:t>
            </a:r>
          </a:p>
        </p:txBody>
      </p:sp>
      <p:sp>
        <p:nvSpPr>
          <p:cNvPr id="14" name="result-1">
            <a:extLst xmlns:a="http://schemas.openxmlformats.org/drawingml/2006/main">
              <a:ext uri="{FF2B5EF4-FFF2-40B4-BE49-F238E27FC236}">
                <a16:creationId xmlns:a16="http://schemas.microsoft.com/office/drawing/2014/main" id="{2D96EBCD-907A-4F2F-A40B-47B1842F8E06}"/>
              </a:ext>
            </a:extLst>
          </p:cNvPr>
          <p:cNvSpPr>
            <a:spLocks xmlns:a="http://schemas.openxmlformats.org/drawingml/2006/main" noGrp="1"/>
          </p:cNvSpPr>
          <p:nvPr/>
        </p:nvSpPr>
        <p:spPr>
          <a:xfrm xmlns:a="http://schemas.openxmlformats.org/drawingml/2006/main">
            <a:off x="9334500" y="29337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7CF5B5"/>
                </a:solidFill>
              </a:defRPr>
            </a:pPr>
            <a:r>
              <a:rPr sz="1350" b="1">
                <a:solidFill>
                  <a:srgbClr val="7CF5B5"/>
                </a:solidFill>
              </a:rPr>
              <a:t>Kept</a:t>
            </a:r>
          </a:p>
        </p:txBody>
      </p:sp>
      <p:sp>
        <p:nvSpPr>
          <p:cNvPr id="15" name="">
            <a:extLst xmlns:a="http://schemas.openxmlformats.org/drawingml/2006/main">
              <a:ext uri="{FF2B5EF4-FFF2-40B4-BE49-F238E27FC236}">
                <a16:creationId xmlns:a16="http://schemas.microsoft.com/office/drawing/2014/main" id="{6522E9C4-E2F7-4843-9E0E-DEBE0F050B47}"/>
              </a:ext>
            </a:extLst>
          </p:cNvPr>
          <p:cNvSpPr>
            <a:spLocks xmlns:a="http://schemas.openxmlformats.org/drawingml/2006/main" noGrp="1"/>
          </p:cNvSpPr>
          <p:nvPr/>
        </p:nvSpPr>
        <p:spPr>
          <a:xfrm xmlns:a="http://schemas.openxmlformats.org/drawingml/2006/main">
            <a:off x="552450" y="3476625"/>
            <a:ext cx="10715625"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16" name="stage-2">
            <a:extLst xmlns:a="http://schemas.openxmlformats.org/drawingml/2006/main">
              <a:ext uri="{FF2B5EF4-FFF2-40B4-BE49-F238E27FC236}">
                <a16:creationId xmlns:a16="http://schemas.microsoft.com/office/drawing/2014/main" id="{F4FAEAD2-4CCF-43C7-B19E-5FCBAAD9B538}"/>
              </a:ext>
            </a:extLst>
          </p:cNvPr>
          <p:cNvSpPr>
            <a:spLocks xmlns:a="http://schemas.openxmlformats.org/drawingml/2006/main" noGrp="1"/>
          </p:cNvSpPr>
          <p:nvPr/>
        </p:nvSpPr>
        <p:spPr>
          <a:xfrm xmlns:a="http://schemas.openxmlformats.org/drawingml/2006/main">
            <a:off x="552450" y="37528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GOVERN</a:t>
            </a:r>
          </a:p>
        </p:txBody>
      </p:sp>
      <p:sp>
        <p:nvSpPr>
          <p:cNvPr id="17" name="change-2">
            <a:extLst xmlns:a="http://schemas.openxmlformats.org/drawingml/2006/main">
              <a:ext uri="{FF2B5EF4-FFF2-40B4-BE49-F238E27FC236}">
                <a16:creationId xmlns:a16="http://schemas.microsoft.com/office/drawing/2014/main" id="{F87FA1B8-B120-4B38-AAFC-DAA256FACB2E}"/>
              </a:ext>
            </a:extLst>
          </p:cNvPr>
          <p:cNvSpPr>
            <a:spLocks xmlns:a="http://schemas.openxmlformats.org/drawingml/2006/main" noGrp="1"/>
          </p:cNvSpPr>
          <p:nvPr/>
        </p:nvSpPr>
        <p:spPr>
          <a:xfrm xmlns:a="http://schemas.openxmlformats.org/drawingml/2006/main">
            <a:off x="2476500" y="3724275"/>
            <a:ext cx="6429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EDF7F0"/>
                </a:solidFill>
              </a:defRPr>
            </a:pPr>
            <a:r>
              <a:rPr sz="1500" b="1">
                <a:solidFill>
                  <a:srgbClr val="EDF7F0"/>
                </a:solidFill>
              </a:rPr>
              <a:t>Typed repair, human approval, frozen replay and activation gate</a:t>
            </a:r>
          </a:p>
        </p:txBody>
      </p:sp>
      <p:sp>
        <p:nvSpPr>
          <p:cNvPr id="18" name="result-2">
            <a:extLst xmlns:a="http://schemas.openxmlformats.org/drawingml/2006/main">
              <a:ext uri="{FF2B5EF4-FFF2-40B4-BE49-F238E27FC236}">
                <a16:creationId xmlns:a16="http://schemas.microsoft.com/office/drawing/2014/main" id="{4016652E-1DAB-4989-BD6C-F9B38AE7231F}"/>
              </a:ext>
            </a:extLst>
          </p:cNvPr>
          <p:cNvSpPr>
            <a:spLocks xmlns:a="http://schemas.openxmlformats.org/drawingml/2006/main" noGrp="1"/>
          </p:cNvSpPr>
          <p:nvPr/>
        </p:nvSpPr>
        <p:spPr>
          <a:xfrm xmlns:a="http://schemas.openxmlformats.org/drawingml/2006/main">
            <a:off x="9334500" y="37338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7CF5B5"/>
                </a:solidFill>
              </a:defRPr>
            </a:pPr>
            <a:r>
              <a:rPr sz="1350" b="1">
                <a:solidFill>
                  <a:srgbClr val="7CF5B5"/>
                </a:solidFill>
              </a:rPr>
              <a:t>11 / 12 recovered</a:t>
            </a:r>
          </a:p>
        </p:txBody>
      </p:sp>
      <p:sp>
        <p:nvSpPr>
          <p:cNvPr id="19" name="">
            <a:extLst xmlns:a="http://schemas.openxmlformats.org/drawingml/2006/main">
              <a:ext uri="{FF2B5EF4-FFF2-40B4-BE49-F238E27FC236}">
                <a16:creationId xmlns:a16="http://schemas.microsoft.com/office/drawing/2014/main" id="{6C829B49-D574-44A0-978E-0FE19D8A2293}"/>
              </a:ext>
            </a:extLst>
          </p:cNvPr>
          <p:cNvSpPr>
            <a:spLocks xmlns:a="http://schemas.openxmlformats.org/drawingml/2006/main" noGrp="1"/>
          </p:cNvSpPr>
          <p:nvPr/>
        </p:nvSpPr>
        <p:spPr>
          <a:xfrm xmlns:a="http://schemas.openxmlformats.org/drawingml/2006/main">
            <a:off x="552450" y="4276725"/>
            <a:ext cx="10715625"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20" name="stage-3">
            <a:extLst xmlns:a="http://schemas.openxmlformats.org/drawingml/2006/main">
              <a:ext uri="{FF2B5EF4-FFF2-40B4-BE49-F238E27FC236}">
                <a16:creationId xmlns:a16="http://schemas.microsoft.com/office/drawing/2014/main" id="{040D038A-2DAD-4F89-9383-6C1A0F85A95F}"/>
              </a:ext>
            </a:extLst>
          </p:cNvPr>
          <p:cNvSpPr>
            <a:spLocks xmlns:a="http://schemas.openxmlformats.org/drawingml/2006/main" noGrp="1"/>
          </p:cNvSpPr>
          <p:nvPr/>
        </p:nvSpPr>
        <p:spPr>
          <a:xfrm xmlns:a="http://schemas.openxmlformats.org/drawingml/2006/main">
            <a:off x="552450" y="455295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FFC66D"/>
                </a:solidFill>
              </a:defRPr>
            </a:pPr>
            <a:r>
              <a:rPr sz="975" b="1">
                <a:solidFill>
                  <a:srgbClr val="FFC66D"/>
                </a:solidFill>
              </a:rPr>
              <a:t>REMOVED CLAIM</a:t>
            </a:r>
          </a:p>
        </p:txBody>
      </p:sp>
      <p:sp>
        <p:nvSpPr>
          <p:cNvPr id="21" name="change-3">
            <a:extLst xmlns:a="http://schemas.openxmlformats.org/drawingml/2006/main">
              <a:ext uri="{FF2B5EF4-FFF2-40B4-BE49-F238E27FC236}">
                <a16:creationId xmlns:a16="http://schemas.microsoft.com/office/drawing/2014/main" id="{A34C4097-BD66-4205-BC22-7E83179BA83D}"/>
              </a:ext>
            </a:extLst>
          </p:cNvPr>
          <p:cNvSpPr>
            <a:spLocks xmlns:a="http://schemas.openxmlformats.org/drawingml/2006/main" noGrp="1"/>
          </p:cNvSpPr>
          <p:nvPr/>
        </p:nvSpPr>
        <p:spPr>
          <a:xfrm xmlns:a="http://schemas.openxmlformats.org/drawingml/2006/main">
            <a:off x="2476500" y="4524375"/>
            <a:ext cx="64293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EDF7F0"/>
                </a:solidFill>
              </a:defRPr>
            </a:pPr>
            <a:r>
              <a:rPr sz="1500" b="0">
                <a:solidFill>
                  <a:srgbClr val="EDF7F0"/>
                </a:solidFill>
              </a:rPr>
              <a:t>Internally authored transfer benchmark was not external validation</a:t>
            </a:r>
          </a:p>
        </p:txBody>
      </p:sp>
      <p:sp>
        <p:nvSpPr>
          <p:cNvPr id="22" name="result-3">
            <a:extLst xmlns:a="http://schemas.openxmlformats.org/drawingml/2006/main">
              <a:ext uri="{FF2B5EF4-FFF2-40B4-BE49-F238E27FC236}">
                <a16:creationId xmlns:a16="http://schemas.microsoft.com/office/drawing/2014/main" id="{95861160-1964-4164-95F0-6E5EF45104F3}"/>
              </a:ext>
            </a:extLst>
          </p:cNvPr>
          <p:cNvSpPr>
            <a:spLocks xmlns:a="http://schemas.openxmlformats.org/drawingml/2006/main" noGrp="1"/>
          </p:cNvSpPr>
          <p:nvPr/>
        </p:nvSpPr>
        <p:spPr>
          <a:xfrm xmlns:a="http://schemas.openxmlformats.org/drawingml/2006/main">
            <a:off x="9334500" y="453390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350" b="1">
                <a:solidFill>
                  <a:srgbClr val="FFC66D"/>
                </a:solidFill>
              </a:defRPr>
            </a:pPr>
            <a:r>
              <a:rPr sz="1350" b="1">
                <a:solidFill>
                  <a:srgbClr val="FFC66D"/>
                </a:solidFill>
              </a:rPr>
              <a:t>Reclassified</a:t>
            </a:r>
          </a:p>
        </p:txBody>
      </p:sp>
      <p:sp>
        <p:nvSpPr>
          <p:cNvPr id="23" name="changelog-meaning">
            <a:extLst xmlns:a="http://schemas.openxmlformats.org/drawingml/2006/main">
              <a:ext uri="{FF2B5EF4-FFF2-40B4-BE49-F238E27FC236}">
                <a16:creationId xmlns:a16="http://schemas.microsoft.com/office/drawing/2014/main" id="{F4F5B5FF-C677-404D-AD33-DFA251C5E092}"/>
              </a:ext>
            </a:extLst>
          </p:cNvPr>
          <p:cNvSpPr>
            <a:spLocks xmlns:a="http://schemas.openxmlformats.org/drawingml/2006/main" noGrp="1"/>
          </p:cNvSpPr>
          <p:nvPr/>
        </p:nvSpPr>
        <p:spPr>
          <a:xfrm xmlns:a="http://schemas.openxmlformats.org/drawingml/2006/main">
            <a:off x="552450" y="55626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9BB0A5"/>
                </a:solidFill>
              </a:defRPr>
            </a:pPr>
            <a:r>
              <a:rPr sz="1275" b="1">
                <a:solidFill>
                  <a:srgbClr val="9BB0A5"/>
                </a:solidFill>
              </a:rPr>
              <a:t>Development result: 25.00% → 91.67% CAVRR · synthetic controlled evidence · 0.00% safety regression</a:t>
            </a:r>
          </a:p>
        </p:txBody>
      </p:sp>
    </p:spTree>
    <p:extLst>
      <p:ext uri="{BB962C8B-B14F-4D97-AF65-F5344CB8AC3E}">
        <p14:creationId xmlns:p14="http://schemas.microsoft.com/office/powerpoint/2010/main" val="1151938078"/>
      </p:ext>
    </p:extLst>
  </p:cSld>
</p:sld>
</file>

<file path=ppt/slides/slide7.xml><?xml version="1.0" encoding="utf-8"?>
<p:sld xmlns:p="http://schemas.openxmlformats.org/presentationml/2006/main">
  <p:cSld>
    <p:bg>
      <p:bgPr>
        <a:solidFill xmlns:a="http://schemas.openxmlformats.org/drawingml/2006/main">
          <a:srgbClr val="07110F"/>
        </a:solidFill>
      </p:bgPr>
    </p:bg>
    <p:spTree>
      <p:nvGrpSpPr>
        <p:cNvPr id="1" name=""/>
        <p:cNvGrpSpPr/>
        <p:nvPr/>
      </p:nvGrpSpPr>
      <p:grpSpPr>
        <a:xfrm xmlns:a="http://schemas.openxmlformats.org/drawingml/2006/main"/>
      </p:grpSpPr>
      <p:sp>
        <p:nvSpPr>
          <p:cNvPr id="1" name="accent-7">
            <a:extLst xmlns:a="http://schemas.openxmlformats.org/drawingml/2006/main">
              <a:ext uri="{FF2B5EF4-FFF2-40B4-BE49-F238E27FC236}">
                <a16:creationId xmlns:a16="http://schemas.microsoft.com/office/drawing/2014/main" id="{2F4941C6-E594-43E0-A2C5-52884FE5CE75}"/>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2" name="section-7">
            <a:extLst xmlns:a="http://schemas.openxmlformats.org/drawingml/2006/main">
              <a:ext uri="{FF2B5EF4-FFF2-40B4-BE49-F238E27FC236}">
                <a16:creationId xmlns:a16="http://schemas.microsoft.com/office/drawing/2014/main" id="{8728B041-6A7C-40EF-93DA-1AF1621BD4A1}"/>
              </a:ext>
            </a:extLst>
          </p:cNvPr>
          <p:cNvSpPr>
            <a:spLocks xmlns:a="http://schemas.openxmlformats.org/drawingml/2006/main" noGrp="1"/>
          </p:cNvSpPr>
          <p:nvPr/>
        </p:nvSpPr>
        <p:spPr>
          <a:xfrm xmlns:a="http://schemas.openxmlformats.org/drawingml/2006/main">
            <a:off x="552450" y="333375"/>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MEASURED IMPROVEMENT AND EXTERNAL VALIDITY</a:t>
            </a:r>
          </a:p>
        </p:txBody>
      </p:sp>
      <p:sp>
        <p:nvSpPr>
          <p:cNvPr id="3" name="brand-7">
            <a:extLst xmlns:a="http://schemas.openxmlformats.org/drawingml/2006/main">
              <a:ext uri="{FF2B5EF4-FFF2-40B4-BE49-F238E27FC236}">
                <a16:creationId xmlns:a16="http://schemas.microsoft.com/office/drawing/2014/main" id="{887B9120-0ABB-42AD-80CF-4AD593A7ED5C}"/>
              </a:ext>
            </a:extLst>
          </p:cNvPr>
          <p:cNvSpPr>
            <a:spLocks xmlns:a="http://schemas.openxmlformats.org/drawingml/2006/main" noGrp="1"/>
          </p:cNvSpPr>
          <p:nvPr/>
        </p:nvSpPr>
        <p:spPr>
          <a:xfrm xmlns:a="http://schemas.openxmlformats.org/drawingml/2006/main">
            <a:off x="9953625" y="333375"/>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BB0A5"/>
                </a:solidFill>
              </a:defRPr>
            </a:pPr>
            <a:r>
              <a:rPr sz="975" b="1">
                <a:solidFill>
                  <a:srgbClr val="9BB0A5"/>
                </a:solidFill>
              </a:rPr>
              <a:t>SUPERTURIYA</a:t>
            </a:r>
          </a:p>
        </p:txBody>
      </p:sp>
      <p:sp>
        <p:nvSpPr>
          <p:cNvPr id="4" name="">
            <a:extLst xmlns:a="http://schemas.openxmlformats.org/drawingml/2006/main">
              <a:ext uri="{FF2B5EF4-FFF2-40B4-BE49-F238E27FC236}">
                <a16:creationId xmlns:a16="http://schemas.microsoft.com/office/drawing/2014/main" id="{7D9CBAA2-E691-435D-A046-29801070AE50}"/>
              </a:ext>
            </a:extLst>
          </p:cNvPr>
          <p:cNvSpPr>
            <a:spLocks xmlns:a="http://schemas.openxmlformats.org/drawingml/2006/main" noGrp="1"/>
          </p:cNvSpPr>
          <p:nvPr/>
        </p:nvSpPr>
        <p:spPr>
          <a:xfrm xmlns:a="http://schemas.openxmlformats.org/drawingml/2006/main">
            <a:off x="552450" y="6429375"/>
            <a:ext cx="10972800"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5" name="footer-7">
            <a:extLst xmlns:a="http://schemas.openxmlformats.org/drawingml/2006/main">
              <a:ext uri="{FF2B5EF4-FFF2-40B4-BE49-F238E27FC236}">
                <a16:creationId xmlns:a16="http://schemas.microsoft.com/office/drawing/2014/main" id="{B610472D-2856-4F9A-A0D0-95B56214E931}"/>
              </a:ext>
            </a:extLst>
          </p:cNvPr>
          <p:cNvSpPr>
            <a:spLocks xmlns:a="http://schemas.openxmlformats.org/drawingml/2006/main" noGrp="1"/>
          </p:cNvSpPr>
          <p:nvPr/>
        </p:nvSpPr>
        <p:spPr>
          <a:xfrm xmlns:a="http://schemas.openxmlformats.org/drawingml/2006/main">
            <a:off x="552450" y="65341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60766B"/>
                </a:solidFill>
              </a:defRPr>
            </a:pPr>
            <a:r>
              <a:rPr sz="750" b="0">
                <a:solidFill>
                  <a:srgbClr val="60766B"/>
                </a:solidFill>
              </a:rPr>
              <a:t>micro1 Agentic Workflows Hackathon · submission deck</a:t>
            </a:r>
          </a:p>
        </p:txBody>
      </p:sp>
      <p:sp>
        <p:nvSpPr>
          <p:cNvPr id="6" name="page-7">
            <a:extLst xmlns:a="http://schemas.openxmlformats.org/drawingml/2006/main">
              <a:ext uri="{FF2B5EF4-FFF2-40B4-BE49-F238E27FC236}">
                <a16:creationId xmlns:a16="http://schemas.microsoft.com/office/drawing/2014/main" id="{97FBC51D-1D15-41EC-96FC-6E7DD93B9C3A}"/>
              </a:ext>
            </a:extLst>
          </p:cNvPr>
          <p:cNvSpPr>
            <a:spLocks xmlns:a="http://schemas.openxmlformats.org/drawingml/2006/main" noGrp="1"/>
          </p:cNvSpPr>
          <p:nvPr/>
        </p:nvSpPr>
        <p:spPr>
          <a:xfrm xmlns:a="http://schemas.openxmlformats.org/drawingml/2006/main">
            <a:off x="1104900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66B"/>
                </a:solidFill>
              </a:defRPr>
            </a:pPr>
            <a:r>
              <a:rPr sz="825" b="1">
                <a:solidFill>
                  <a:srgbClr val="60766B"/>
                </a:solidFill>
              </a:rPr>
              <a:t>07</a:t>
            </a:r>
          </a:p>
        </p:txBody>
      </p:sp>
      <p:sp>
        <p:nvSpPr>
          <p:cNvPr id="7" name="slide-title">
            <a:extLst xmlns:a="http://schemas.openxmlformats.org/drawingml/2006/main">
              <a:ext uri="{FF2B5EF4-FFF2-40B4-BE49-F238E27FC236}">
                <a16:creationId xmlns:a16="http://schemas.microsoft.com/office/drawing/2014/main" id="{56E2EE50-BDBA-4458-A5E3-94CD524BF58E}"/>
              </a:ext>
            </a:extLst>
          </p:cNvPr>
          <p:cNvSpPr>
            <a:spLocks xmlns:a="http://schemas.openxmlformats.org/drawingml/2006/main" noGrp="1"/>
          </p:cNvSpPr>
          <p:nvPr/>
        </p:nvSpPr>
        <p:spPr>
          <a:xfrm xmlns:a="http://schemas.openxmlformats.org/drawingml/2006/main">
            <a:off x="552450" y="7239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225" b="1">
                <a:solidFill>
                  <a:srgbClr val="EDF7F0"/>
                </a:solidFill>
              </a:defRPr>
            </a:pPr>
            <a:r>
              <a:rPr sz="3225" b="1">
                <a:solidFill>
                  <a:srgbClr val="EDF7F0"/>
                </a:solidFill>
              </a:rPr>
              <a:t>The blinded evaluation found diagnostic strength—and zero recovery lift.</a:t>
            </a:r>
          </a:p>
        </p:txBody>
      </p:sp>
      <p:sp>
        <p:nvSpPr>
          <p:cNvPr id="8" name="scope-v2">
            <a:extLst xmlns:a="http://schemas.openxmlformats.org/drawingml/2006/main">
              <a:ext uri="{FF2B5EF4-FFF2-40B4-BE49-F238E27FC236}">
                <a16:creationId xmlns:a16="http://schemas.microsoft.com/office/drawing/2014/main" id="{E8F890FC-6AB2-4328-B5CA-7AE8178DF9D9}"/>
              </a:ext>
            </a:extLst>
          </p:cNvPr>
          <p:cNvSpPr>
            <a:spLocks xmlns:a="http://schemas.openxmlformats.org/drawingml/2006/main" noGrp="1"/>
          </p:cNvSpPr>
          <p:nvPr/>
        </p:nvSpPr>
        <p:spPr>
          <a:xfrm xmlns:a="http://schemas.openxmlformats.org/drawingml/2006/main">
            <a:off x="552450" y="20955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16 blinded/adversarial cases · 4 cloud-operations scenario families · 3 trials · no post-freeze tuning</a:t>
            </a:r>
          </a:p>
        </p:txBody>
      </p:sp>
      <p:sp>
        <p:nvSpPr>
          <p:cNvPr id="9" name="baseline-name">
            <a:extLst xmlns:a="http://schemas.openxmlformats.org/drawingml/2006/main">
              <a:ext uri="{FF2B5EF4-FFF2-40B4-BE49-F238E27FC236}">
                <a16:creationId xmlns:a16="http://schemas.microsoft.com/office/drawing/2014/main" id="{343712FD-2E5F-4AC8-B000-642192335029}"/>
              </a:ext>
            </a:extLst>
          </p:cNvPr>
          <p:cNvSpPr>
            <a:spLocks xmlns:a="http://schemas.openxmlformats.org/drawingml/2006/main" noGrp="1"/>
          </p:cNvSpPr>
          <p:nvPr/>
        </p:nvSpPr>
        <p:spPr>
          <a:xfrm xmlns:a="http://schemas.openxmlformats.org/drawingml/2006/main">
            <a:off x="552450" y="2800350"/>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9BB0A5"/>
                </a:solidFill>
              </a:defRPr>
            </a:pPr>
            <a:r>
              <a:rPr sz="975" b="1">
                <a:solidFill>
                  <a:srgbClr val="9BB0A5"/>
                </a:solidFill>
              </a:rPr>
              <a:t>DIRECT BASELINE</a:t>
            </a:r>
          </a:p>
        </p:txBody>
      </p:sp>
      <p:sp>
        <p:nvSpPr>
          <p:cNvPr id="10" name="baseline-track">
            <a:extLst xmlns:a="http://schemas.openxmlformats.org/drawingml/2006/main">
              <a:ext uri="{FF2B5EF4-FFF2-40B4-BE49-F238E27FC236}">
                <a16:creationId xmlns:a16="http://schemas.microsoft.com/office/drawing/2014/main" id="{79C1A45D-7D15-40B3-A38E-D16AEDBB03EB}"/>
              </a:ext>
            </a:extLst>
          </p:cNvPr>
          <p:cNvSpPr>
            <a:spLocks xmlns:a="http://schemas.openxmlformats.org/drawingml/2006/main" noGrp="1"/>
          </p:cNvSpPr>
          <p:nvPr/>
        </p:nvSpPr>
        <p:spPr>
          <a:xfrm xmlns:a="http://schemas.openxmlformats.org/drawingml/2006/main">
            <a:off x="552450" y="3143250"/>
            <a:ext cx="4762500" cy="457200"/>
          </a:xfrm>
          <a:prstGeom xmlns:a="http://schemas.openxmlformats.org/drawingml/2006/main" prst="rect">
            <a:avLst/>
          </a:prstGeom>
          <a:solidFill xmlns:a="http://schemas.openxmlformats.org/drawingml/2006/main">
            <a:srgbClr val="10251F"/>
          </a:solidFill>
          <a:ln xmlns:a="http://schemas.openxmlformats.org/drawingml/2006/main" w="0">
            <a:noFill/>
            <a:prstDash val="solid"/>
          </a:ln>
        </p:spPr>
      </p:sp>
      <p:sp>
        <p:nvSpPr>
          <p:cNvPr id="11" name="baseline-bar">
            <a:extLst xmlns:a="http://schemas.openxmlformats.org/drawingml/2006/main">
              <a:ext uri="{FF2B5EF4-FFF2-40B4-BE49-F238E27FC236}">
                <a16:creationId xmlns:a16="http://schemas.microsoft.com/office/drawing/2014/main" id="{5172973C-26A0-4887-98C1-6C8B16EE45F8}"/>
              </a:ext>
            </a:extLst>
          </p:cNvPr>
          <p:cNvSpPr>
            <a:spLocks xmlns:a="http://schemas.openxmlformats.org/drawingml/2006/main" noGrp="1"/>
          </p:cNvSpPr>
          <p:nvPr/>
        </p:nvSpPr>
        <p:spPr>
          <a:xfrm xmlns:a="http://schemas.openxmlformats.org/drawingml/2006/main">
            <a:off x="552450" y="3143250"/>
            <a:ext cx="2381250" cy="4572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12" name="baseline-score">
            <a:extLst xmlns:a="http://schemas.openxmlformats.org/drawingml/2006/main">
              <a:ext uri="{FF2B5EF4-FFF2-40B4-BE49-F238E27FC236}">
                <a16:creationId xmlns:a16="http://schemas.microsoft.com/office/drawing/2014/main" id="{4C8E7773-3DC6-41EF-9E5C-0AA2FDBCABF3}"/>
              </a:ext>
            </a:extLst>
          </p:cNvPr>
          <p:cNvSpPr>
            <a:spLocks xmlns:a="http://schemas.openxmlformats.org/drawingml/2006/main" noGrp="1"/>
          </p:cNvSpPr>
          <p:nvPr/>
        </p:nvSpPr>
        <p:spPr>
          <a:xfrm xmlns:a="http://schemas.openxmlformats.org/drawingml/2006/main">
            <a:off x="552450" y="36957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EDF7F0"/>
                </a:solidFill>
              </a:defRPr>
            </a:pPr>
            <a:r>
              <a:rPr sz="1500" b="1">
                <a:solidFill>
                  <a:srgbClr val="EDF7F0"/>
                </a:solidFill>
              </a:rPr>
              <a:t>50.00%  ·  8/16</a:t>
            </a:r>
          </a:p>
        </p:txBody>
      </p:sp>
      <p:sp>
        <p:nvSpPr>
          <p:cNvPr id="13" name="final-name">
            <a:extLst xmlns:a="http://schemas.openxmlformats.org/drawingml/2006/main">
              <a:ext uri="{FF2B5EF4-FFF2-40B4-BE49-F238E27FC236}">
                <a16:creationId xmlns:a16="http://schemas.microsoft.com/office/drawing/2014/main" id="{4CC9D0B5-6D1D-476F-92EF-F61DF8A914F2}"/>
              </a:ext>
            </a:extLst>
          </p:cNvPr>
          <p:cNvSpPr>
            <a:spLocks xmlns:a="http://schemas.openxmlformats.org/drawingml/2006/main" noGrp="1"/>
          </p:cNvSpPr>
          <p:nvPr/>
        </p:nvSpPr>
        <p:spPr>
          <a:xfrm xmlns:a="http://schemas.openxmlformats.org/drawingml/2006/main">
            <a:off x="552450" y="4257675"/>
            <a:ext cx="1714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9BB0A5"/>
                </a:solidFill>
              </a:defRPr>
            </a:pPr>
            <a:r>
              <a:rPr sz="975" b="1">
                <a:solidFill>
                  <a:srgbClr val="9BB0A5"/>
                </a:solidFill>
              </a:rPr>
              <a:t>SUPERTURIYA</a:t>
            </a:r>
          </a:p>
        </p:txBody>
      </p:sp>
      <p:sp>
        <p:nvSpPr>
          <p:cNvPr id="14" name="final-track">
            <a:extLst xmlns:a="http://schemas.openxmlformats.org/drawingml/2006/main">
              <a:ext uri="{FF2B5EF4-FFF2-40B4-BE49-F238E27FC236}">
                <a16:creationId xmlns:a16="http://schemas.microsoft.com/office/drawing/2014/main" id="{D4FC03B3-47D9-4283-BECD-48A22229E5F7}"/>
              </a:ext>
            </a:extLst>
          </p:cNvPr>
          <p:cNvSpPr>
            <a:spLocks xmlns:a="http://schemas.openxmlformats.org/drawingml/2006/main" noGrp="1"/>
          </p:cNvSpPr>
          <p:nvPr/>
        </p:nvSpPr>
        <p:spPr>
          <a:xfrm xmlns:a="http://schemas.openxmlformats.org/drawingml/2006/main">
            <a:off x="552450" y="4600575"/>
            <a:ext cx="4762500" cy="457200"/>
          </a:xfrm>
          <a:prstGeom xmlns:a="http://schemas.openxmlformats.org/drawingml/2006/main" prst="rect">
            <a:avLst/>
          </a:prstGeom>
          <a:solidFill xmlns:a="http://schemas.openxmlformats.org/drawingml/2006/main">
            <a:srgbClr val="10251F"/>
          </a:solidFill>
          <a:ln xmlns:a="http://schemas.openxmlformats.org/drawingml/2006/main" w="0">
            <a:noFill/>
            <a:prstDash val="solid"/>
          </a:ln>
        </p:spPr>
      </p:sp>
      <p:sp>
        <p:nvSpPr>
          <p:cNvPr id="15" name="final-bar">
            <a:extLst xmlns:a="http://schemas.openxmlformats.org/drawingml/2006/main">
              <a:ext uri="{FF2B5EF4-FFF2-40B4-BE49-F238E27FC236}">
                <a16:creationId xmlns:a16="http://schemas.microsoft.com/office/drawing/2014/main" id="{6B7A8217-B748-488F-87DB-C2A72BE9BCBC}"/>
              </a:ext>
            </a:extLst>
          </p:cNvPr>
          <p:cNvSpPr>
            <a:spLocks xmlns:a="http://schemas.openxmlformats.org/drawingml/2006/main" noGrp="1"/>
          </p:cNvSpPr>
          <p:nvPr/>
        </p:nvSpPr>
        <p:spPr>
          <a:xfrm xmlns:a="http://schemas.openxmlformats.org/drawingml/2006/main">
            <a:off x="552450" y="4600575"/>
            <a:ext cx="2381250" cy="4572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16" name="final-score">
            <a:extLst xmlns:a="http://schemas.openxmlformats.org/drawingml/2006/main">
              <a:ext uri="{FF2B5EF4-FFF2-40B4-BE49-F238E27FC236}">
                <a16:creationId xmlns:a16="http://schemas.microsoft.com/office/drawing/2014/main" id="{9CF19F2E-A138-4066-8C41-607DEC21AFF2}"/>
              </a:ext>
            </a:extLst>
          </p:cNvPr>
          <p:cNvSpPr>
            <a:spLocks xmlns:a="http://schemas.openxmlformats.org/drawingml/2006/main" noGrp="1"/>
          </p:cNvSpPr>
          <p:nvPr/>
        </p:nvSpPr>
        <p:spPr>
          <a:xfrm xmlns:a="http://schemas.openxmlformats.org/drawingml/2006/main">
            <a:off x="552450" y="5153025"/>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1500" b="1">
                <a:solidFill>
                  <a:srgbClr val="EDF7F0"/>
                </a:solidFill>
              </a:defRPr>
            </a:pPr>
            <a:r>
              <a:rPr sz="1500" b="1">
                <a:solidFill>
                  <a:srgbClr val="EDF7F0"/>
                </a:solidFill>
              </a:rPr>
              <a:t>50.00%  ·  8/16</a:t>
            </a:r>
          </a:p>
        </p:txBody>
      </p:sp>
      <p:sp>
        <p:nvSpPr>
          <p:cNvPr id="17" name="metric-a">
            <a:extLst xmlns:a="http://schemas.openxmlformats.org/drawingml/2006/main">
              <a:ext uri="{FF2B5EF4-FFF2-40B4-BE49-F238E27FC236}">
                <a16:creationId xmlns:a16="http://schemas.microsoft.com/office/drawing/2014/main" id="{8DDB1376-FCA1-4511-8D7F-438727AC345A}"/>
              </a:ext>
            </a:extLst>
          </p:cNvPr>
          <p:cNvSpPr>
            <a:spLocks xmlns:a="http://schemas.openxmlformats.org/drawingml/2006/main" noGrp="1"/>
          </p:cNvSpPr>
          <p:nvPr/>
        </p:nvSpPr>
        <p:spPr>
          <a:xfrm xmlns:a="http://schemas.openxmlformats.org/drawingml/2006/main">
            <a:off x="6381750" y="2628900"/>
            <a:ext cx="1809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7CF5B5"/>
                </a:solidFill>
              </a:defRPr>
            </a:pPr>
            <a:r>
              <a:rPr sz="2850" b="1">
                <a:solidFill>
                  <a:srgbClr val="7CF5B5"/>
                </a:solidFill>
              </a:rPr>
              <a:t>100%</a:t>
            </a:r>
          </a:p>
        </p:txBody>
      </p:sp>
      <p:sp>
        <p:nvSpPr>
          <p:cNvPr id="18" name="metric-a-label">
            <a:extLst xmlns:a="http://schemas.openxmlformats.org/drawingml/2006/main">
              <a:ext uri="{FF2B5EF4-FFF2-40B4-BE49-F238E27FC236}">
                <a16:creationId xmlns:a16="http://schemas.microsoft.com/office/drawing/2014/main" id="{CBA7A45A-F237-466C-8AB9-EFADAD9D83F0}"/>
              </a:ext>
            </a:extLst>
          </p:cNvPr>
          <p:cNvSpPr>
            <a:spLocks xmlns:a="http://schemas.openxmlformats.org/drawingml/2006/main" noGrp="1"/>
          </p:cNvSpPr>
          <p:nvPr/>
        </p:nvSpPr>
        <p:spPr>
          <a:xfrm xmlns:a="http://schemas.openxmlformats.org/drawingml/2006/main">
            <a:off x="6381750" y="31337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critical-step localization</a:t>
            </a:r>
          </a:p>
        </p:txBody>
      </p:sp>
      <p:sp>
        <p:nvSpPr>
          <p:cNvPr id="19" name="metric-b">
            <a:extLst xmlns:a="http://schemas.openxmlformats.org/drawingml/2006/main">
              <a:ext uri="{FF2B5EF4-FFF2-40B4-BE49-F238E27FC236}">
                <a16:creationId xmlns:a16="http://schemas.microsoft.com/office/drawing/2014/main" id="{3E731153-524E-4B51-8E95-C073F04D8761}"/>
              </a:ext>
            </a:extLst>
          </p:cNvPr>
          <p:cNvSpPr>
            <a:spLocks xmlns:a="http://schemas.openxmlformats.org/drawingml/2006/main" noGrp="1"/>
          </p:cNvSpPr>
          <p:nvPr/>
        </p:nvSpPr>
        <p:spPr>
          <a:xfrm xmlns:a="http://schemas.openxmlformats.org/drawingml/2006/main">
            <a:off x="8858250" y="26289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7CF5B5"/>
                </a:solidFill>
              </a:defRPr>
            </a:pPr>
            <a:r>
              <a:rPr sz="2850" b="1">
                <a:solidFill>
                  <a:srgbClr val="7CF5B5"/>
                </a:solidFill>
              </a:rPr>
              <a:t>81.25%</a:t>
            </a:r>
          </a:p>
        </p:txBody>
      </p:sp>
      <p:sp>
        <p:nvSpPr>
          <p:cNvPr id="20" name="metric-b-label">
            <a:extLst xmlns:a="http://schemas.openxmlformats.org/drawingml/2006/main">
              <a:ext uri="{FF2B5EF4-FFF2-40B4-BE49-F238E27FC236}">
                <a16:creationId xmlns:a16="http://schemas.microsoft.com/office/drawing/2014/main" id="{8A0A21C4-FD64-448C-B4D2-F6E94A3A764B}"/>
              </a:ext>
            </a:extLst>
          </p:cNvPr>
          <p:cNvSpPr>
            <a:spLocks xmlns:a="http://schemas.openxmlformats.org/drawingml/2006/main" noGrp="1"/>
          </p:cNvSpPr>
          <p:nvPr/>
        </p:nvSpPr>
        <p:spPr>
          <a:xfrm xmlns:a="http://schemas.openxmlformats.org/drawingml/2006/main">
            <a:off x="8858250" y="3133725"/>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decisive-invariant accuracy</a:t>
            </a:r>
          </a:p>
        </p:txBody>
      </p:sp>
      <p:sp>
        <p:nvSpPr>
          <p:cNvPr id="21" name="metric-c">
            <a:extLst xmlns:a="http://schemas.openxmlformats.org/drawingml/2006/main">
              <a:ext uri="{FF2B5EF4-FFF2-40B4-BE49-F238E27FC236}">
                <a16:creationId xmlns:a16="http://schemas.microsoft.com/office/drawing/2014/main" id="{2704922C-CE89-4C84-8C4B-401EDC347C64}"/>
              </a:ext>
            </a:extLst>
          </p:cNvPr>
          <p:cNvSpPr>
            <a:spLocks xmlns:a="http://schemas.openxmlformats.org/drawingml/2006/main" noGrp="1"/>
          </p:cNvSpPr>
          <p:nvPr/>
        </p:nvSpPr>
        <p:spPr>
          <a:xfrm xmlns:a="http://schemas.openxmlformats.org/drawingml/2006/main">
            <a:off x="6381750" y="3857625"/>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FC66D"/>
                </a:solidFill>
              </a:defRPr>
            </a:pPr>
            <a:r>
              <a:rPr sz="2850" b="1">
                <a:solidFill>
                  <a:srgbClr val="FFC66D"/>
                </a:solidFill>
              </a:rPr>
              <a:t>41.67%</a:t>
            </a:r>
          </a:p>
        </p:txBody>
      </p:sp>
      <p:sp>
        <p:nvSpPr>
          <p:cNvPr id="22" name="metric-c-label">
            <a:extLst xmlns:a="http://schemas.openxmlformats.org/drawingml/2006/main">
              <a:ext uri="{FF2B5EF4-FFF2-40B4-BE49-F238E27FC236}">
                <a16:creationId xmlns:a16="http://schemas.microsoft.com/office/drawing/2014/main" id="{F0D4F140-E9E7-4208-9450-BC2D93ABA68A}"/>
              </a:ext>
            </a:extLst>
          </p:cNvPr>
          <p:cNvSpPr>
            <a:spLocks xmlns:a="http://schemas.openxmlformats.org/drawingml/2006/main" noGrp="1"/>
          </p:cNvSpPr>
          <p:nvPr/>
        </p:nvSpPr>
        <p:spPr>
          <a:xfrm xmlns:a="http://schemas.openxmlformats.org/drawingml/2006/main">
            <a:off x="6381750" y="43624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mean repair-surface accuracy</a:t>
            </a:r>
          </a:p>
        </p:txBody>
      </p:sp>
      <p:sp>
        <p:nvSpPr>
          <p:cNvPr id="23" name="metric-d">
            <a:extLst xmlns:a="http://schemas.openxmlformats.org/drawingml/2006/main">
              <a:ext uri="{FF2B5EF4-FFF2-40B4-BE49-F238E27FC236}">
                <a16:creationId xmlns:a16="http://schemas.microsoft.com/office/drawing/2014/main" id="{9C6DE921-83E5-49D0-B7BC-342805526443}"/>
              </a:ext>
            </a:extLst>
          </p:cNvPr>
          <p:cNvSpPr>
            <a:spLocks xmlns:a="http://schemas.openxmlformats.org/drawingml/2006/main" noGrp="1"/>
          </p:cNvSpPr>
          <p:nvPr/>
        </p:nvSpPr>
        <p:spPr>
          <a:xfrm xmlns:a="http://schemas.openxmlformats.org/drawingml/2006/main">
            <a:off x="8858250" y="3857625"/>
            <a:ext cx="1905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7CF5B5"/>
                </a:solidFill>
              </a:defRPr>
            </a:pPr>
            <a:r>
              <a:rPr sz="2850" b="1">
                <a:solidFill>
                  <a:srgbClr val="7CF5B5"/>
                </a:solidFill>
              </a:rPr>
              <a:t>0.00%</a:t>
            </a:r>
          </a:p>
        </p:txBody>
      </p:sp>
      <p:sp>
        <p:nvSpPr>
          <p:cNvPr id="24" name="metric-d-label">
            <a:extLst xmlns:a="http://schemas.openxmlformats.org/drawingml/2006/main">
              <a:ext uri="{FF2B5EF4-FFF2-40B4-BE49-F238E27FC236}">
                <a16:creationId xmlns:a16="http://schemas.microsoft.com/office/drawing/2014/main" id="{38153E60-4F74-4EE2-8F08-CC04DC45412F}"/>
              </a:ext>
            </a:extLst>
          </p:cNvPr>
          <p:cNvSpPr>
            <a:spLocks xmlns:a="http://schemas.openxmlformats.org/drawingml/2006/main" noGrp="1"/>
          </p:cNvSpPr>
          <p:nvPr/>
        </p:nvSpPr>
        <p:spPr>
          <a:xfrm xmlns:a="http://schemas.openxmlformats.org/drawingml/2006/main">
            <a:off x="8858250" y="4362450"/>
            <a:ext cx="2095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safety regression</a:t>
            </a:r>
          </a:p>
        </p:txBody>
      </p:sp>
      <p:sp>
        <p:nvSpPr>
          <p:cNvPr id="25" name="meaning">
            <a:extLst xmlns:a="http://schemas.openxmlformats.org/drawingml/2006/main">
              <a:ext uri="{FF2B5EF4-FFF2-40B4-BE49-F238E27FC236}">
                <a16:creationId xmlns:a16="http://schemas.microsoft.com/office/drawing/2014/main" id="{13DCD904-9FE0-4D51-8636-4981DEA596EA}"/>
              </a:ext>
            </a:extLst>
          </p:cNvPr>
          <p:cNvSpPr>
            <a:spLocks xmlns:a="http://schemas.openxmlformats.org/drawingml/2006/main" noGrp="1"/>
          </p:cNvSpPr>
          <p:nvPr/>
        </p:nvSpPr>
        <p:spPr>
          <a:xfrm xmlns:a="http://schemas.openxmlformats.org/drawingml/2006/main">
            <a:off x="5715000" y="5334000"/>
            <a:ext cx="5334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C66D"/>
                </a:solidFill>
              </a:defRPr>
            </a:pPr>
            <a:r>
              <a:rPr sz="1500" b="1">
                <a:solidFill>
                  <a:srgbClr val="FFC66D"/>
                </a:solidFill>
              </a:rPr>
              <a:t>We did not tune away the miss. Repair-surface selection is the next engineering bottleneck.</a:t>
            </a:r>
          </a:p>
        </p:txBody>
      </p:sp>
    </p:spTree>
    <p:extLst>
      <p:ext uri="{BB962C8B-B14F-4D97-AF65-F5344CB8AC3E}">
        <p14:creationId xmlns:p14="http://schemas.microsoft.com/office/powerpoint/2010/main" val="1004309355"/>
      </p:ext>
    </p:extLst>
  </p:cSld>
</p:sld>
</file>

<file path=ppt/slides/slide8.xml><?xml version="1.0" encoding="utf-8"?>
<p:sld xmlns:p="http://schemas.openxmlformats.org/presentationml/2006/main">
  <p:cSld>
    <p:bg>
      <p:bgPr>
        <a:solidFill xmlns:a="http://schemas.openxmlformats.org/drawingml/2006/main">
          <a:srgbClr val="07110F"/>
        </a:solidFill>
      </p:bgPr>
    </p:bg>
    <p:spTree>
      <p:nvGrpSpPr>
        <p:cNvPr id="1" name=""/>
        <p:cNvGrpSpPr/>
        <p:nvPr/>
      </p:nvGrpSpPr>
      <p:grpSpPr>
        <a:xfrm xmlns:a="http://schemas.openxmlformats.org/drawingml/2006/main"/>
      </p:grpSpPr>
      <p:sp>
        <p:nvSpPr>
          <p:cNvPr id="1" name="accent-8">
            <a:extLst xmlns:a="http://schemas.openxmlformats.org/drawingml/2006/main">
              <a:ext uri="{FF2B5EF4-FFF2-40B4-BE49-F238E27FC236}">
                <a16:creationId xmlns:a16="http://schemas.microsoft.com/office/drawing/2014/main" id="{C4A831E7-05F3-4B29-8AD9-751BA2670504}"/>
              </a:ext>
            </a:extLst>
          </p:cNvPr>
          <p:cNvSpPr>
            <a:spLocks xmlns:a="http://schemas.openxmlformats.org/drawingml/2006/main" noGrp="1"/>
          </p:cNvSpPr>
          <p:nvPr/>
        </p:nvSpPr>
        <p:spPr>
          <a:xfrm xmlns:a="http://schemas.openxmlformats.org/drawingml/2006/main">
            <a:off x="0" y="0"/>
            <a:ext cx="114300" cy="6858000"/>
          </a:xfrm>
          <a:prstGeom xmlns:a="http://schemas.openxmlformats.org/drawingml/2006/main" prst="rect">
            <a:avLst/>
          </a:prstGeom>
          <a:solidFill xmlns:a="http://schemas.openxmlformats.org/drawingml/2006/main">
            <a:srgbClr val="7CF5B5"/>
          </a:solidFill>
          <a:ln xmlns:a="http://schemas.openxmlformats.org/drawingml/2006/main" w="0">
            <a:noFill/>
            <a:prstDash val="solid"/>
          </a:ln>
        </p:spPr>
      </p:sp>
      <p:sp>
        <p:nvSpPr>
          <p:cNvPr id="2" name="section-8">
            <a:extLst xmlns:a="http://schemas.openxmlformats.org/drawingml/2006/main">
              <a:ext uri="{FF2B5EF4-FFF2-40B4-BE49-F238E27FC236}">
                <a16:creationId xmlns:a16="http://schemas.microsoft.com/office/drawing/2014/main" id="{2615451F-2ACC-4699-B2CB-86F53987A1DF}"/>
              </a:ext>
            </a:extLst>
          </p:cNvPr>
          <p:cNvSpPr>
            <a:spLocks xmlns:a="http://schemas.openxmlformats.org/drawingml/2006/main" noGrp="1"/>
          </p:cNvSpPr>
          <p:nvPr/>
        </p:nvSpPr>
        <p:spPr>
          <a:xfrm xmlns:a="http://schemas.openxmlformats.org/drawingml/2006/main">
            <a:off x="552450" y="333375"/>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7CF5B5"/>
                </a:solidFill>
              </a:defRPr>
            </a:pPr>
            <a:r>
              <a:rPr sz="975" b="1">
                <a:solidFill>
                  <a:srgbClr val="7CF5B5"/>
                </a:solidFill>
              </a:rPr>
              <a:t>REPRODUCIBILITY AND CLOSING INSIGHT</a:t>
            </a:r>
          </a:p>
        </p:txBody>
      </p:sp>
      <p:sp>
        <p:nvSpPr>
          <p:cNvPr id="3" name="brand-8">
            <a:extLst xmlns:a="http://schemas.openxmlformats.org/drawingml/2006/main">
              <a:ext uri="{FF2B5EF4-FFF2-40B4-BE49-F238E27FC236}">
                <a16:creationId xmlns:a16="http://schemas.microsoft.com/office/drawing/2014/main" id="{7A789506-D697-4DDF-B115-578180301D10}"/>
              </a:ext>
            </a:extLst>
          </p:cNvPr>
          <p:cNvSpPr>
            <a:spLocks xmlns:a="http://schemas.openxmlformats.org/drawingml/2006/main" noGrp="1"/>
          </p:cNvSpPr>
          <p:nvPr/>
        </p:nvSpPr>
        <p:spPr>
          <a:xfrm xmlns:a="http://schemas.openxmlformats.org/drawingml/2006/main">
            <a:off x="9953625" y="333375"/>
            <a:ext cx="1571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1">
                <a:solidFill>
                  <a:srgbClr val="9BB0A5"/>
                </a:solidFill>
              </a:defRPr>
            </a:pPr>
            <a:r>
              <a:rPr sz="975" b="1">
                <a:solidFill>
                  <a:srgbClr val="9BB0A5"/>
                </a:solidFill>
              </a:rPr>
              <a:t>SUPERTURIYA</a:t>
            </a:r>
          </a:p>
        </p:txBody>
      </p:sp>
      <p:sp>
        <p:nvSpPr>
          <p:cNvPr id="4" name="">
            <a:extLst xmlns:a="http://schemas.openxmlformats.org/drawingml/2006/main">
              <a:ext uri="{FF2B5EF4-FFF2-40B4-BE49-F238E27FC236}">
                <a16:creationId xmlns:a16="http://schemas.microsoft.com/office/drawing/2014/main" id="{AA4970E3-0E30-4C78-AE3A-1407214D78D7}"/>
              </a:ext>
            </a:extLst>
          </p:cNvPr>
          <p:cNvSpPr>
            <a:spLocks xmlns:a="http://schemas.openxmlformats.org/drawingml/2006/main" noGrp="1"/>
          </p:cNvSpPr>
          <p:nvPr/>
        </p:nvSpPr>
        <p:spPr>
          <a:xfrm xmlns:a="http://schemas.openxmlformats.org/drawingml/2006/main">
            <a:off x="552450" y="6429375"/>
            <a:ext cx="10972800" cy="0"/>
          </a:xfrm>
          <a:prstGeom xmlns:a="http://schemas.openxmlformats.org/drawingml/2006/main" prst="line">
            <a:avLst/>
          </a:prstGeom>
          <a:noFill xmlns:a="http://schemas.openxmlformats.org/drawingml/2006/main"/>
          <a:ln xmlns:a="http://schemas.openxmlformats.org/drawingml/2006/main" w="9525">
            <a:solidFill>
              <a:srgbClr val="24483C"/>
            </a:solidFill>
            <a:prstDash val="solid"/>
          </a:ln>
        </p:spPr>
      </p:sp>
      <p:sp>
        <p:nvSpPr>
          <p:cNvPr id="5" name="footer-8">
            <a:extLst xmlns:a="http://schemas.openxmlformats.org/drawingml/2006/main">
              <a:ext uri="{FF2B5EF4-FFF2-40B4-BE49-F238E27FC236}">
                <a16:creationId xmlns:a16="http://schemas.microsoft.com/office/drawing/2014/main" id="{8A850C6E-0D70-45D3-8151-4F4B6F487FE4}"/>
              </a:ext>
            </a:extLst>
          </p:cNvPr>
          <p:cNvSpPr>
            <a:spLocks xmlns:a="http://schemas.openxmlformats.org/drawingml/2006/main" noGrp="1"/>
          </p:cNvSpPr>
          <p:nvPr/>
        </p:nvSpPr>
        <p:spPr>
          <a:xfrm xmlns:a="http://schemas.openxmlformats.org/drawingml/2006/main">
            <a:off x="552450" y="6534150"/>
            <a:ext cx="57150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750" b="0">
                <a:solidFill>
                  <a:srgbClr val="60766B"/>
                </a:solidFill>
              </a:defRPr>
            </a:pPr>
            <a:r>
              <a:rPr sz="750" b="0">
                <a:solidFill>
                  <a:srgbClr val="60766B"/>
                </a:solidFill>
              </a:rPr>
              <a:t>micro1 Agentic Workflows Hackathon · submission deck</a:t>
            </a:r>
          </a:p>
        </p:txBody>
      </p:sp>
      <p:sp>
        <p:nvSpPr>
          <p:cNvPr id="6" name="page-8">
            <a:extLst xmlns:a="http://schemas.openxmlformats.org/drawingml/2006/main">
              <a:ext uri="{FF2B5EF4-FFF2-40B4-BE49-F238E27FC236}">
                <a16:creationId xmlns:a16="http://schemas.microsoft.com/office/drawing/2014/main" id="{78DDDBF6-8EE1-4082-8811-4212319589A4}"/>
              </a:ext>
            </a:extLst>
          </p:cNvPr>
          <p:cNvSpPr>
            <a:spLocks xmlns:a="http://schemas.openxmlformats.org/drawingml/2006/main" noGrp="1"/>
          </p:cNvSpPr>
          <p:nvPr/>
        </p:nvSpPr>
        <p:spPr>
          <a:xfrm xmlns:a="http://schemas.openxmlformats.org/drawingml/2006/main">
            <a:off x="11049000" y="6505575"/>
            <a:ext cx="476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825" b="1">
                <a:solidFill>
                  <a:srgbClr val="60766B"/>
                </a:solidFill>
              </a:defRPr>
            </a:pPr>
            <a:r>
              <a:rPr sz="825" b="1">
                <a:solidFill>
                  <a:srgbClr val="60766B"/>
                </a:solidFill>
              </a:rPr>
              <a:t>08</a:t>
            </a:r>
          </a:p>
        </p:txBody>
      </p:sp>
      <p:sp>
        <p:nvSpPr>
          <p:cNvPr id="7" name="slide-title">
            <a:extLst xmlns:a="http://schemas.openxmlformats.org/drawingml/2006/main">
              <a:ext uri="{FF2B5EF4-FFF2-40B4-BE49-F238E27FC236}">
                <a16:creationId xmlns:a16="http://schemas.microsoft.com/office/drawing/2014/main" id="{8212DC82-FCD2-4223-800F-CCCEC13FC4F3}"/>
              </a:ext>
            </a:extLst>
          </p:cNvPr>
          <p:cNvSpPr>
            <a:spLocks xmlns:a="http://schemas.openxmlformats.org/drawingml/2006/main" noGrp="1"/>
          </p:cNvSpPr>
          <p:nvPr/>
        </p:nvSpPr>
        <p:spPr>
          <a:xfrm xmlns:a="http://schemas.openxmlformats.org/drawingml/2006/main">
            <a:off x="552450" y="838200"/>
            <a:ext cx="109728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600" b="1">
                <a:solidFill>
                  <a:srgbClr val="EDF7F0"/>
                </a:solidFill>
              </a:defRPr>
            </a:pPr>
            <a:r>
              <a:rPr sz="3600" b="1">
                <a:solidFill>
                  <a:srgbClr val="EDF7F0"/>
                </a:solidFill>
              </a:rPr>
              <a:t>Judges can reproduce the product without a model key.</a:t>
            </a:r>
          </a:p>
        </p:txBody>
      </p:sp>
      <p:sp>
        <p:nvSpPr>
          <p:cNvPr id="8" name="terminal">
            <a:extLst xmlns:a="http://schemas.openxmlformats.org/drawingml/2006/main">
              <a:ext uri="{FF2B5EF4-FFF2-40B4-BE49-F238E27FC236}">
                <a16:creationId xmlns:a16="http://schemas.microsoft.com/office/drawing/2014/main" id="{BD3BB556-DFF5-47A9-B28B-80E60EDFA428}"/>
              </a:ext>
            </a:extLst>
          </p:cNvPr>
          <p:cNvSpPr>
            <a:spLocks xmlns:a="http://schemas.openxmlformats.org/drawingml/2006/main" noGrp="1"/>
          </p:cNvSpPr>
          <p:nvPr/>
        </p:nvSpPr>
        <p:spPr>
          <a:xfrm xmlns:a="http://schemas.openxmlformats.org/drawingml/2006/main">
            <a:off x="552450" y="2076450"/>
            <a:ext cx="5619750" cy="2714625"/>
          </a:xfrm>
          <a:prstGeom xmlns:a="http://schemas.openxmlformats.org/drawingml/2006/main" prst="roundRect">
            <a:avLst>
              <a:gd name="adj" fmla="val 3509"/>
            </a:avLst>
          </a:prstGeom>
          <a:solidFill xmlns:a="http://schemas.openxmlformats.org/drawingml/2006/main">
            <a:srgbClr val="030806"/>
          </a:solidFill>
          <a:ln xmlns:a="http://schemas.openxmlformats.org/drawingml/2006/main" w="9525">
            <a:solidFill>
              <a:srgbClr val="24483C"/>
            </a:solidFill>
            <a:prstDash val="solid"/>
          </a:ln>
        </p:spPr>
      </p:sp>
      <p:sp>
        <p:nvSpPr>
          <p:cNvPr id="9" name="terminal-head">
            <a:extLst xmlns:a="http://schemas.openxmlformats.org/drawingml/2006/main">
              <a:ext uri="{FF2B5EF4-FFF2-40B4-BE49-F238E27FC236}">
                <a16:creationId xmlns:a16="http://schemas.microsoft.com/office/drawing/2014/main" id="{5A093246-90DC-4460-9C62-1169199B2566}"/>
              </a:ext>
            </a:extLst>
          </p:cNvPr>
          <p:cNvSpPr>
            <a:spLocks xmlns:a="http://schemas.openxmlformats.org/drawingml/2006/main" noGrp="1"/>
          </p:cNvSpPr>
          <p:nvPr/>
        </p:nvSpPr>
        <p:spPr>
          <a:xfrm xmlns:a="http://schemas.openxmlformats.org/drawingml/2006/main">
            <a:off x="838200" y="2343150"/>
            <a:ext cx="2857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7CF5B5"/>
                </a:solidFill>
              </a:defRPr>
            </a:pPr>
            <a:r>
              <a:rPr sz="900" b="1">
                <a:solidFill>
                  <a:srgbClr val="7CF5B5"/>
                </a:solidFill>
              </a:rPr>
              <a:t>CREDENTIAL-FREE CHECK</a:t>
            </a:r>
          </a:p>
        </p:txBody>
      </p:sp>
      <p:sp>
        <p:nvSpPr>
          <p:cNvPr id="10" name="commands">
            <a:extLst xmlns:a="http://schemas.openxmlformats.org/drawingml/2006/main">
              <a:ext uri="{FF2B5EF4-FFF2-40B4-BE49-F238E27FC236}">
                <a16:creationId xmlns:a16="http://schemas.microsoft.com/office/drawing/2014/main" id="{DBBB6696-28EF-4D39-AD2D-DC6AD8CC6215}"/>
              </a:ext>
            </a:extLst>
          </p:cNvPr>
          <p:cNvSpPr>
            <a:spLocks xmlns:a="http://schemas.openxmlformats.org/drawingml/2006/main" noGrp="1"/>
          </p:cNvSpPr>
          <p:nvPr/>
        </p:nvSpPr>
        <p:spPr>
          <a:xfrm xmlns:a="http://schemas.openxmlformats.org/drawingml/2006/main">
            <a:off x="838200" y="2781300"/>
            <a:ext cx="4762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1">
                <a:solidFill>
                  <a:srgbClr val="EDF7F0"/>
                </a:solidFill>
              </a:defRPr>
            </a:pPr>
            <a:r>
              <a:rPr sz="1800" b="1">
                <a:solidFill>
                  <a:srgbClr val="EDF7F0"/>
                </a:solidFill>
              </a:rPr>
              <a:t>$ make evaluate</a:t>
            </a:r>
          </a:p>
          <a:p xmlns:a="http://schemas.openxmlformats.org/drawingml/2006/main">
            <a:pPr algn="l">
              <a:defRPr sz="1800" b="1">
                <a:solidFill>
                  <a:srgbClr val="EDF7F0"/>
                </a:solidFill>
              </a:defRPr>
            </a:pPr>
            <a:r>
              <a:rPr sz="1800" b="1">
                <a:solidFill>
                  <a:srgbClr val="EDF7F0"/>
                </a:solidFill>
              </a:rPr>
              <a:t>$ make test</a:t>
            </a:r>
          </a:p>
          <a:p xmlns:a="http://schemas.openxmlformats.org/drawingml/2006/main">
            <a:pPr algn="l">
              <a:defRPr sz="1800" b="1">
                <a:solidFill>
                  <a:srgbClr val="EDF7F0"/>
                </a:solidFill>
              </a:defRPr>
            </a:pPr>
            <a:r>
              <a:rPr sz="1800" b="1">
                <a:solidFill>
                  <a:srgbClr val="EDF7F0"/>
                </a:solidFill>
              </a:rPr>
              <a:t>$ make v2-verify</a:t>
            </a:r>
          </a:p>
          <a:p xmlns:a="http://schemas.openxmlformats.org/drawingml/2006/main">
            <a:pPr algn="l">
              <a:defRPr sz="1800" b="1">
                <a:solidFill>
                  <a:srgbClr val="EDF7F0"/>
                </a:solidFill>
              </a:defRPr>
            </a:pPr>
            <a:r>
              <a:rPr sz="1800" b="1">
                <a:solidFill>
                  <a:srgbClr val="EDF7F0"/>
                </a:solidFill>
              </a:rPr>
              <a:t>$ make v2-sut-verify</a:t>
            </a:r>
          </a:p>
        </p:txBody>
      </p:sp>
      <p:sp>
        <p:nvSpPr>
          <p:cNvPr id="11" name="proof-one">
            <a:extLst xmlns:a="http://schemas.openxmlformats.org/drawingml/2006/main">
              <a:ext uri="{FF2B5EF4-FFF2-40B4-BE49-F238E27FC236}">
                <a16:creationId xmlns:a16="http://schemas.microsoft.com/office/drawing/2014/main" id="{A11D7D39-4B15-4808-AAA6-D6A8CE0CEEA4}"/>
              </a:ext>
            </a:extLst>
          </p:cNvPr>
          <p:cNvSpPr>
            <a:spLocks xmlns:a="http://schemas.openxmlformats.org/drawingml/2006/main" noGrp="1"/>
          </p:cNvSpPr>
          <p:nvPr/>
        </p:nvSpPr>
        <p:spPr>
          <a:xfrm xmlns:a="http://schemas.openxmlformats.org/drawingml/2006/main">
            <a:off x="7000875" y="224790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7CF5B5"/>
                </a:solidFill>
              </a:defRPr>
            </a:pPr>
            <a:r>
              <a:rPr sz="3300" b="1">
                <a:solidFill>
                  <a:srgbClr val="7CF5B5"/>
                </a:solidFill>
              </a:rPr>
              <a:t>58 / 58</a:t>
            </a:r>
          </a:p>
        </p:txBody>
      </p:sp>
      <p:sp>
        <p:nvSpPr>
          <p:cNvPr id="12" name="proof-one-label">
            <a:extLst xmlns:a="http://schemas.openxmlformats.org/drawingml/2006/main">
              <a:ext uri="{FF2B5EF4-FFF2-40B4-BE49-F238E27FC236}">
                <a16:creationId xmlns:a16="http://schemas.microsoft.com/office/drawing/2014/main" id="{7263FC3C-D582-409E-8232-8E61822437B6}"/>
              </a:ext>
            </a:extLst>
          </p:cNvPr>
          <p:cNvSpPr>
            <a:spLocks xmlns:a="http://schemas.openxmlformats.org/drawingml/2006/main" noGrp="1"/>
          </p:cNvSpPr>
          <p:nvPr/>
        </p:nvSpPr>
        <p:spPr>
          <a:xfrm xmlns:a="http://schemas.openxmlformats.org/drawingml/2006/main">
            <a:off x="7000875" y="280035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tests pass from a clean public clone</a:t>
            </a:r>
          </a:p>
        </p:txBody>
      </p:sp>
      <p:sp>
        <p:nvSpPr>
          <p:cNvPr id="13" name="proof-two">
            <a:extLst xmlns:a="http://schemas.openxmlformats.org/drawingml/2006/main">
              <a:ext uri="{FF2B5EF4-FFF2-40B4-BE49-F238E27FC236}">
                <a16:creationId xmlns:a16="http://schemas.microsoft.com/office/drawing/2014/main" id="{213AA438-A137-4872-AED0-61E786527D05}"/>
              </a:ext>
            </a:extLst>
          </p:cNvPr>
          <p:cNvSpPr>
            <a:spLocks xmlns:a="http://schemas.openxmlformats.org/drawingml/2006/main" noGrp="1"/>
          </p:cNvSpPr>
          <p:nvPr/>
        </p:nvSpPr>
        <p:spPr>
          <a:xfrm xmlns:a="http://schemas.openxmlformats.org/drawingml/2006/main">
            <a:off x="7000875" y="3524250"/>
            <a:ext cx="23812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300" b="1">
                <a:solidFill>
                  <a:srgbClr val="7CF5B5"/>
                </a:solidFill>
              </a:defRPr>
            </a:pPr>
            <a:r>
              <a:rPr sz="3300" b="1">
                <a:solidFill>
                  <a:srgbClr val="7CF5B5"/>
                </a:solidFill>
              </a:rPr>
              <a:t>16 / 16</a:t>
            </a:r>
          </a:p>
        </p:txBody>
      </p:sp>
      <p:sp>
        <p:nvSpPr>
          <p:cNvPr id="14" name="proof-two-label">
            <a:extLst xmlns:a="http://schemas.openxmlformats.org/drawingml/2006/main">
              <a:ext uri="{FF2B5EF4-FFF2-40B4-BE49-F238E27FC236}">
                <a16:creationId xmlns:a16="http://schemas.microsoft.com/office/drawing/2014/main" id="{9354B82C-C372-4746-869A-F14C0FC094EB}"/>
              </a:ext>
            </a:extLst>
          </p:cNvPr>
          <p:cNvSpPr>
            <a:spLocks xmlns:a="http://schemas.openxmlformats.org/drawingml/2006/main" noGrp="1"/>
          </p:cNvSpPr>
          <p:nvPr/>
        </p:nvSpPr>
        <p:spPr>
          <a:xfrm xmlns:a="http://schemas.openxmlformats.org/drawingml/2006/main">
            <a:off x="7000875" y="4076700"/>
            <a:ext cx="3333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0">
                <a:solidFill>
                  <a:srgbClr val="9BB0A5"/>
                </a:solidFill>
              </a:defRPr>
            </a:pPr>
            <a:r>
              <a:rPr sz="1200" b="0">
                <a:solidFill>
                  <a:srgbClr val="9BB0A5"/>
                </a:solidFill>
              </a:rPr>
              <a:t>frozen cases verify with valid hashes</a:t>
            </a:r>
          </a:p>
        </p:txBody>
      </p:sp>
      <p:sp>
        <p:nvSpPr>
          <p:cNvPr id="15" name="close">
            <a:extLst xmlns:a="http://schemas.openxmlformats.org/drawingml/2006/main">
              <a:ext uri="{FF2B5EF4-FFF2-40B4-BE49-F238E27FC236}">
                <a16:creationId xmlns:a16="http://schemas.microsoft.com/office/drawing/2014/main" id="{FBFFF500-B42A-43FA-9B45-3016C8B34AF6}"/>
              </a:ext>
            </a:extLst>
          </p:cNvPr>
          <p:cNvSpPr>
            <a:spLocks xmlns:a="http://schemas.openxmlformats.org/drawingml/2006/main" noGrp="1"/>
          </p:cNvSpPr>
          <p:nvPr/>
        </p:nvSpPr>
        <p:spPr>
          <a:xfrm xmlns:a="http://schemas.openxmlformats.org/drawingml/2006/main">
            <a:off x="552450" y="5286375"/>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550" b="1">
                <a:solidFill>
                  <a:srgbClr val="EDF7F0"/>
                </a:solidFill>
              </a:defRPr>
            </a:pPr>
            <a:r>
              <a:rPr sz="2550" b="1">
                <a:solidFill>
                  <a:srgbClr val="EDF7F0"/>
                </a:solidFill>
              </a:rPr>
              <a:t>The model proposes. Code verifies. A human governs.</a:t>
            </a:r>
          </a:p>
        </p:txBody>
      </p:sp>
      <p:sp>
        <p:nvSpPr>
          <p:cNvPr id="16" name="final-insight">
            <a:extLst xmlns:a="http://schemas.openxmlformats.org/drawingml/2006/main">
              <a:ext uri="{FF2B5EF4-FFF2-40B4-BE49-F238E27FC236}">
                <a16:creationId xmlns:a16="http://schemas.microsoft.com/office/drawing/2014/main" id="{47CBE6C3-F8EB-4517-949C-F75BFF044931}"/>
              </a:ext>
            </a:extLst>
          </p:cNvPr>
          <p:cNvSpPr>
            <a:spLocks xmlns:a="http://schemas.openxmlformats.org/drawingml/2006/main" noGrp="1"/>
          </p:cNvSpPr>
          <p:nvPr/>
        </p:nvSpPr>
        <p:spPr>
          <a:xfrm xmlns:a="http://schemas.openxmlformats.org/drawingml/2006/main">
            <a:off x="552450" y="5886450"/>
            <a:ext cx="1066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FFC66D"/>
                </a:solidFill>
              </a:defRPr>
            </a:pPr>
            <a:r>
              <a:rPr sz="1350" b="1">
                <a:solidFill>
                  <a:srgbClr val="FFC66D"/>
                </a:solidFill>
              </a:rPr>
              <a:t>Reliable agent learning is an authority-design problem—not only a prompting problem.</a:t>
            </a:r>
          </a:p>
        </p:txBody>
      </p:sp>
    </p:spTree>
    <p:extLst>
      <p:ext uri="{BB962C8B-B14F-4D97-AF65-F5344CB8AC3E}">
        <p14:creationId xmlns:p14="http://schemas.microsoft.com/office/powerpoint/2010/main" val="1148563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2026-08-31T13:11:04.2880000Z</dcterms:created>
  <dcterms:modified xsi:type="dcterms:W3CDTF">2026-08-31T13:11:04.2880000Z</dcterms:modified>
</coreProperties>
</file>